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430000" cy="8686800"/>
  <p:notesSz cx="11430000" cy="8686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>
      <p:cViewPr varScale="1">
        <p:scale>
          <a:sx n="52" d="100"/>
          <a:sy n="52" d="100"/>
        </p:scale>
        <p:origin x="118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9996"/>
            <a:ext cx="97155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889C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12900"/>
            <a:ext cx="80010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11430000" cy="6438901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328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889C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889C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4639" y="1484758"/>
            <a:ext cx="4768215" cy="2539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F889C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3872"/>
            <a:ext cx="49720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889C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637" y="417416"/>
            <a:ext cx="8118476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889C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3872"/>
            <a:ext cx="102870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9993"/>
            <a:ext cx="3657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9993"/>
            <a:ext cx="26289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9993"/>
            <a:ext cx="26289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24425" y="2585726"/>
            <a:ext cx="2838450" cy="1590675"/>
            <a:chOff x="4924425" y="2585720"/>
            <a:chExt cx="2838450" cy="1590675"/>
          </a:xfrm>
        </p:grpSpPr>
        <p:sp>
          <p:nvSpPr>
            <p:cNvPr id="3" name="object 3"/>
            <p:cNvSpPr/>
            <p:nvPr/>
          </p:nvSpPr>
          <p:spPr>
            <a:xfrm>
              <a:off x="4924425" y="2585720"/>
              <a:ext cx="2838450" cy="1590675"/>
            </a:xfrm>
            <a:custGeom>
              <a:avLst/>
              <a:gdLst/>
              <a:ahLst/>
              <a:cxnLst/>
              <a:rect l="l" t="t" r="r" b="b"/>
              <a:pathLst>
                <a:path w="2838450" h="1590675">
                  <a:moveTo>
                    <a:pt x="2818638" y="0"/>
                  </a:moveTo>
                  <a:lnTo>
                    <a:pt x="19685" y="0"/>
                  </a:lnTo>
                  <a:lnTo>
                    <a:pt x="16890" y="508"/>
                  </a:lnTo>
                  <a:lnTo>
                    <a:pt x="0" y="19685"/>
                  </a:lnTo>
                  <a:lnTo>
                    <a:pt x="0" y="1570863"/>
                  </a:lnTo>
                  <a:lnTo>
                    <a:pt x="19685" y="1590675"/>
                  </a:lnTo>
                  <a:lnTo>
                    <a:pt x="2818638" y="1590675"/>
                  </a:lnTo>
                  <a:lnTo>
                    <a:pt x="2838450" y="1570863"/>
                  </a:lnTo>
                  <a:lnTo>
                    <a:pt x="2838450" y="19685"/>
                  </a:lnTo>
                  <a:lnTo>
                    <a:pt x="2821558" y="508"/>
                  </a:lnTo>
                  <a:lnTo>
                    <a:pt x="2818638" y="0"/>
                  </a:lnTo>
                  <a:close/>
                </a:path>
              </a:pathLst>
            </a:custGeom>
            <a:solidFill>
              <a:srgbClr val="434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21655" y="2832989"/>
              <a:ext cx="527050" cy="170180"/>
            </a:xfrm>
            <a:custGeom>
              <a:avLst/>
              <a:gdLst/>
              <a:ahLst/>
              <a:cxnLst/>
              <a:rect l="l" t="t" r="r" b="b"/>
              <a:pathLst>
                <a:path w="527050" h="170180">
                  <a:moveTo>
                    <a:pt x="13589" y="114426"/>
                  </a:moveTo>
                  <a:lnTo>
                    <a:pt x="0" y="114426"/>
                  </a:lnTo>
                  <a:lnTo>
                    <a:pt x="0" y="136270"/>
                  </a:lnTo>
                  <a:lnTo>
                    <a:pt x="6223" y="138429"/>
                  </a:lnTo>
                  <a:lnTo>
                    <a:pt x="13081" y="140207"/>
                  </a:lnTo>
                  <a:lnTo>
                    <a:pt x="20574" y="141477"/>
                  </a:lnTo>
                  <a:lnTo>
                    <a:pt x="28067" y="142875"/>
                  </a:lnTo>
                  <a:lnTo>
                    <a:pt x="35052" y="143509"/>
                  </a:lnTo>
                  <a:lnTo>
                    <a:pt x="41529" y="143509"/>
                  </a:lnTo>
                  <a:lnTo>
                    <a:pt x="77696" y="134746"/>
                  </a:lnTo>
                  <a:lnTo>
                    <a:pt x="34290" y="134746"/>
                  </a:lnTo>
                  <a:lnTo>
                    <a:pt x="28321" y="133222"/>
                  </a:lnTo>
                  <a:lnTo>
                    <a:pt x="24003" y="129920"/>
                  </a:lnTo>
                  <a:lnTo>
                    <a:pt x="19685" y="126745"/>
                  </a:lnTo>
                  <a:lnTo>
                    <a:pt x="16256" y="121538"/>
                  </a:lnTo>
                  <a:lnTo>
                    <a:pt x="13589" y="114426"/>
                  </a:lnTo>
                  <a:close/>
                </a:path>
                <a:path w="527050" h="170180">
                  <a:moveTo>
                    <a:pt x="81915" y="9525"/>
                  </a:moveTo>
                  <a:lnTo>
                    <a:pt x="50927" y="9525"/>
                  </a:lnTo>
                  <a:lnTo>
                    <a:pt x="57404" y="11556"/>
                  </a:lnTo>
                  <a:lnTo>
                    <a:pt x="61849" y="15620"/>
                  </a:lnTo>
                  <a:lnTo>
                    <a:pt x="66294" y="19811"/>
                  </a:lnTo>
                  <a:lnTo>
                    <a:pt x="68453" y="25653"/>
                  </a:lnTo>
                  <a:lnTo>
                    <a:pt x="68453" y="39115"/>
                  </a:lnTo>
                  <a:lnTo>
                    <a:pt x="36179" y="64325"/>
                  </a:lnTo>
                  <a:lnTo>
                    <a:pt x="22098" y="66039"/>
                  </a:lnTo>
                  <a:lnTo>
                    <a:pt x="22098" y="75056"/>
                  </a:lnTo>
                  <a:lnTo>
                    <a:pt x="32258" y="75056"/>
                  </a:lnTo>
                  <a:lnTo>
                    <a:pt x="41346" y="75564"/>
                  </a:lnTo>
                  <a:lnTo>
                    <a:pt x="71374" y="95884"/>
                  </a:lnTo>
                  <a:lnTo>
                    <a:pt x="71374" y="115442"/>
                  </a:lnTo>
                  <a:lnTo>
                    <a:pt x="68834" y="122681"/>
                  </a:lnTo>
                  <a:lnTo>
                    <a:pt x="58928" y="132333"/>
                  </a:lnTo>
                  <a:lnTo>
                    <a:pt x="51435" y="134746"/>
                  </a:lnTo>
                  <a:lnTo>
                    <a:pt x="77824" y="134746"/>
                  </a:lnTo>
                  <a:lnTo>
                    <a:pt x="83666" y="129920"/>
                  </a:lnTo>
                  <a:lnTo>
                    <a:pt x="85686" y="126745"/>
                  </a:lnTo>
                  <a:lnTo>
                    <a:pt x="87630" y="123570"/>
                  </a:lnTo>
                  <a:lnTo>
                    <a:pt x="91440" y="117475"/>
                  </a:lnTo>
                  <a:lnTo>
                    <a:pt x="93345" y="110362"/>
                  </a:lnTo>
                  <a:lnTo>
                    <a:pt x="93345" y="97281"/>
                  </a:lnTo>
                  <a:lnTo>
                    <a:pt x="92329" y="92709"/>
                  </a:lnTo>
                  <a:lnTo>
                    <a:pt x="90297" y="88772"/>
                  </a:lnTo>
                  <a:lnTo>
                    <a:pt x="88265" y="84708"/>
                  </a:lnTo>
                  <a:lnTo>
                    <a:pt x="85725" y="81279"/>
                  </a:lnTo>
                  <a:lnTo>
                    <a:pt x="78994" y="75564"/>
                  </a:lnTo>
                  <a:lnTo>
                    <a:pt x="75311" y="73151"/>
                  </a:lnTo>
                  <a:lnTo>
                    <a:pt x="70993" y="71373"/>
                  </a:lnTo>
                  <a:lnTo>
                    <a:pt x="66802" y="69595"/>
                  </a:lnTo>
                  <a:lnTo>
                    <a:pt x="62357" y="68325"/>
                  </a:lnTo>
                  <a:lnTo>
                    <a:pt x="57785" y="67563"/>
                  </a:lnTo>
                  <a:lnTo>
                    <a:pt x="57785" y="66547"/>
                  </a:lnTo>
                  <a:lnTo>
                    <a:pt x="65151" y="63500"/>
                  </a:lnTo>
                  <a:lnTo>
                    <a:pt x="71120" y="60197"/>
                  </a:lnTo>
                  <a:lnTo>
                    <a:pt x="75692" y="56895"/>
                  </a:lnTo>
                  <a:lnTo>
                    <a:pt x="80391" y="53593"/>
                  </a:lnTo>
                  <a:lnTo>
                    <a:pt x="83947" y="49783"/>
                  </a:lnTo>
                  <a:lnTo>
                    <a:pt x="86487" y="45338"/>
                  </a:lnTo>
                  <a:lnTo>
                    <a:pt x="89154" y="41020"/>
                  </a:lnTo>
                  <a:lnTo>
                    <a:pt x="90424" y="35813"/>
                  </a:lnTo>
                  <a:lnTo>
                    <a:pt x="90339" y="23494"/>
                  </a:lnTo>
                  <a:lnTo>
                    <a:pt x="88646" y="18414"/>
                  </a:lnTo>
                  <a:lnTo>
                    <a:pt x="85344" y="13969"/>
                  </a:lnTo>
                  <a:lnTo>
                    <a:pt x="81915" y="9525"/>
                  </a:lnTo>
                  <a:close/>
                </a:path>
                <a:path w="527050" h="170180">
                  <a:moveTo>
                    <a:pt x="56769" y="0"/>
                  </a:moveTo>
                  <a:lnTo>
                    <a:pt x="41148" y="0"/>
                  </a:lnTo>
                  <a:lnTo>
                    <a:pt x="33782" y="1015"/>
                  </a:lnTo>
                  <a:lnTo>
                    <a:pt x="1651" y="11175"/>
                  </a:lnTo>
                  <a:lnTo>
                    <a:pt x="1651" y="30733"/>
                  </a:lnTo>
                  <a:lnTo>
                    <a:pt x="15240" y="30733"/>
                  </a:lnTo>
                  <a:lnTo>
                    <a:pt x="17323" y="23748"/>
                  </a:lnTo>
                  <a:lnTo>
                    <a:pt x="17399" y="23494"/>
                  </a:lnTo>
                  <a:lnTo>
                    <a:pt x="20701" y="18160"/>
                  </a:lnTo>
                  <a:lnTo>
                    <a:pt x="25146" y="14731"/>
                  </a:lnTo>
                  <a:lnTo>
                    <a:pt x="29591" y="11175"/>
                  </a:lnTo>
                  <a:lnTo>
                    <a:pt x="35306" y="9525"/>
                  </a:lnTo>
                  <a:lnTo>
                    <a:pt x="81915" y="9525"/>
                  </a:lnTo>
                  <a:lnTo>
                    <a:pt x="76962" y="5968"/>
                  </a:lnTo>
                  <a:lnTo>
                    <a:pt x="70612" y="3682"/>
                  </a:lnTo>
                  <a:lnTo>
                    <a:pt x="64262" y="1269"/>
                  </a:lnTo>
                  <a:lnTo>
                    <a:pt x="56769" y="0"/>
                  </a:lnTo>
                  <a:close/>
                </a:path>
                <a:path w="527050" h="170180">
                  <a:moveTo>
                    <a:pt x="143637" y="117982"/>
                  </a:moveTo>
                  <a:lnTo>
                    <a:pt x="123825" y="117982"/>
                  </a:lnTo>
                  <a:lnTo>
                    <a:pt x="124307" y="122808"/>
                  </a:lnTo>
                  <a:lnTo>
                    <a:pt x="124549" y="127507"/>
                  </a:lnTo>
                  <a:lnTo>
                    <a:pt x="119761" y="155066"/>
                  </a:lnTo>
                  <a:lnTo>
                    <a:pt x="118110" y="157733"/>
                  </a:lnTo>
                  <a:lnTo>
                    <a:pt x="115316" y="160654"/>
                  </a:lnTo>
                  <a:lnTo>
                    <a:pt x="111379" y="163956"/>
                  </a:lnTo>
                  <a:lnTo>
                    <a:pt x="117475" y="170179"/>
                  </a:lnTo>
                  <a:lnTo>
                    <a:pt x="144272" y="141350"/>
                  </a:lnTo>
                  <a:lnTo>
                    <a:pt x="145161" y="137032"/>
                  </a:lnTo>
                  <a:lnTo>
                    <a:pt x="145161" y="127507"/>
                  </a:lnTo>
                  <a:lnTo>
                    <a:pt x="144680" y="123062"/>
                  </a:lnTo>
                  <a:lnTo>
                    <a:pt x="144653" y="122808"/>
                  </a:lnTo>
                  <a:lnTo>
                    <a:pt x="143637" y="117982"/>
                  </a:lnTo>
                  <a:close/>
                </a:path>
                <a:path w="527050" h="170180">
                  <a:moveTo>
                    <a:pt x="269531" y="74548"/>
                  </a:moveTo>
                  <a:lnTo>
                    <a:pt x="247142" y="74548"/>
                  </a:lnTo>
                  <a:lnTo>
                    <a:pt x="248285" y="74929"/>
                  </a:lnTo>
                  <a:lnTo>
                    <a:pt x="246834" y="84548"/>
                  </a:lnTo>
                  <a:lnTo>
                    <a:pt x="225742" y="122892"/>
                  </a:lnTo>
                  <a:lnTo>
                    <a:pt x="192786" y="132841"/>
                  </a:lnTo>
                  <a:lnTo>
                    <a:pt x="192786" y="137794"/>
                  </a:lnTo>
                  <a:lnTo>
                    <a:pt x="197485" y="143509"/>
                  </a:lnTo>
                  <a:lnTo>
                    <a:pt x="208123" y="142031"/>
                  </a:lnTo>
                  <a:lnTo>
                    <a:pt x="218106" y="139493"/>
                  </a:lnTo>
                  <a:lnTo>
                    <a:pt x="250650" y="118744"/>
                  </a:lnTo>
                  <a:lnTo>
                    <a:pt x="268465" y="81660"/>
                  </a:lnTo>
                  <a:lnTo>
                    <a:pt x="269475" y="74929"/>
                  </a:lnTo>
                  <a:lnTo>
                    <a:pt x="269531" y="74548"/>
                  </a:lnTo>
                  <a:close/>
                </a:path>
                <a:path w="527050" h="170180">
                  <a:moveTo>
                    <a:pt x="222250" y="0"/>
                  </a:moveTo>
                  <a:lnTo>
                    <a:pt x="213360" y="0"/>
                  </a:lnTo>
                  <a:lnTo>
                    <a:pt x="205486" y="1269"/>
                  </a:lnTo>
                  <a:lnTo>
                    <a:pt x="192278" y="6095"/>
                  </a:lnTo>
                  <a:lnTo>
                    <a:pt x="186690" y="9397"/>
                  </a:lnTo>
                  <a:lnTo>
                    <a:pt x="182245" y="13588"/>
                  </a:lnTo>
                  <a:lnTo>
                    <a:pt x="177800" y="17652"/>
                  </a:lnTo>
                  <a:lnTo>
                    <a:pt x="174371" y="22478"/>
                  </a:lnTo>
                  <a:lnTo>
                    <a:pt x="172212" y="28066"/>
                  </a:lnTo>
                  <a:lnTo>
                    <a:pt x="169926" y="33527"/>
                  </a:lnTo>
                  <a:lnTo>
                    <a:pt x="168783" y="39369"/>
                  </a:lnTo>
                  <a:lnTo>
                    <a:pt x="168783" y="53720"/>
                  </a:lnTo>
                  <a:lnTo>
                    <a:pt x="170307" y="60959"/>
                  </a:lnTo>
                  <a:lnTo>
                    <a:pt x="173415" y="67182"/>
                  </a:lnTo>
                  <a:lnTo>
                    <a:pt x="176276" y="73151"/>
                  </a:lnTo>
                  <a:lnTo>
                    <a:pt x="180848" y="77977"/>
                  </a:lnTo>
                  <a:lnTo>
                    <a:pt x="186817" y="81279"/>
                  </a:lnTo>
                  <a:lnTo>
                    <a:pt x="192786" y="84708"/>
                  </a:lnTo>
                  <a:lnTo>
                    <a:pt x="200025" y="86359"/>
                  </a:lnTo>
                  <a:lnTo>
                    <a:pt x="215646" y="86359"/>
                  </a:lnTo>
                  <a:lnTo>
                    <a:pt x="222377" y="85470"/>
                  </a:lnTo>
                  <a:lnTo>
                    <a:pt x="234569" y="81660"/>
                  </a:lnTo>
                  <a:lnTo>
                    <a:pt x="240792" y="78612"/>
                  </a:lnTo>
                  <a:lnTo>
                    <a:pt x="245554" y="75564"/>
                  </a:lnTo>
                  <a:lnTo>
                    <a:pt x="208026" y="75564"/>
                  </a:lnTo>
                  <a:lnTo>
                    <a:pt x="201549" y="72770"/>
                  </a:lnTo>
                  <a:lnTo>
                    <a:pt x="196850" y="67182"/>
                  </a:lnTo>
                  <a:lnTo>
                    <a:pt x="192278" y="61594"/>
                  </a:lnTo>
                  <a:lnTo>
                    <a:pt x="189992" y="53720"/>
                  </a:lnTo>
                  <a:lnTo>
                    <a:pt x="189992" y="38607"/>
                  </a:lnTo>
                  <a:lnTo>
                    <a:pt x="190627" y="34035"/>
                  </a:lnTo>
                  <a:lnTo>
                    <a:pt x="191770" y="29717"/>
                  </a:lnTo>
                  <a:lnTo>
                    <a:pt x="192786" y="25526"/>
                  </a:lnTo>
                  <a:lnTo>
                    <a:pt x="194564" y="21843"/>
                  </a:lnTo>
                  <a:lnTo>
                    <a:pt x="197104" y="18795"/>
                  </a:lnTo>
                  <a:lnTo>
                    <a:pt x="199517" y="15620"/>
                  </a:lnTo>
                  <a:lnTo>
                    <a:pt x="202692" y="13207"/>
                  </a:lnTo>
                  <a:lnTo>
                    <a:pt x="210566" y="9651"/>
                  </a:lnTo>
                  <a:lnTo>
                    <a:pt x="215265" y="8762"/>
                  </a:lnTo>
                  <a:lnTo>
                    <a:pt x="251783" y="8762"/>
                  </a:lnTo>
                  <a:lnTo>
                    <a:pt x="251414" y="8411"/>
                  </a:lnTo>
                  <a:lnTo>
                    <a:pt x="243093" y="3730"/>
                  </a:lnTo>
                  <a:lnTo>
                    <a:pt x="233368" y="930"/>
                  </a:lnTo>
                  <a:lnTo>
                    <a:pt x="222250" y="0"/>
                  </a:lnTo>
                  <a:close/>
                </a:path>
                <a:path w="527050" h="170180">
                  <a:moveTo>
                    <a:pt x="251783" y="8762"/>
                  </a:moveTo>
                  <a:lnTo>
                    <a:pt x="227203" y="8762"/>
                  </a:lnTo>
                  <a:lnTo>
                    <a:pt x="232410" y="10413"/>
                  </a:lnTo>
                  <a:lnTo>
                    <a:pt x="236728" y="13842"/>
                  </a:lnTo>
                  <a:lnTo>
                    <a:pt x="249301" y="43687"/>
                  </a:lnTo>
                  <a:lnTo>
                    <a:pt x="249209" y="57784"/>
                  </a:lnTo>
                  <a:lnTo>
                    <a:pt x="224536" y="74929"/>
                  </a:lnTo>
                  <a:lnTo>
                    <a:pt x="221202" y="75564"/>
                  </a:lnTo>
                  <a:lnTo>
                    <a:pt x="245554" y="75564"/>
                  </a:lnTo>
                  <a:lnTo>
                    <a:pt x="247142" y="74548"/>
                  </a:lnTo>
                  <a:lnTo>
                    <a:pt x="269531" y="74548"/>
                  </a:lnTo>
                  <a:lnTo>
                    <a:pt x="270192" y="70121"/>
                  </a:lnTo>
                  <a:lnTo>
                    <a:pt x="270275" y="68325"/>
                  </a:lnTo>
                  <a:lnTo>
                    <a:pt x="270328" y="67182"/>
                  </a:lnTo>
                  <a:lnTo>
                    <a:pt x="270434" y="64896"/>
                  </a:lnTo>
                  <a:lnTo>
                    <a:pt x="270552" y="62356"/>
                  </a:lnTo>
                  <a:lnTo>
                    <a:pt x="270667" y="56133"/>
                  </a:lnTo>
                  <a:lnTo>
                    <a:pt x="269998" y="44614"/>
                  </a:lnTo>
                  <a:lnTo>
                    <a:pt x="267872" y="34035"/>
                  </a:lnTo>
                  <a:lnTo>
                    <a:pt x="267770" y="33527"/>
                  </a:lnTo>
                  <a:lnTo>
                    <a:pt x="267684" y="33099"/>
                  </a:lnTo>
                  <a:lnTo>
                    <a:pt x="263798" y="23227"/>
                  </a:lnTo>
                  <a:lnTo>
                    <a:pt x="258318" y="14985"/>
                  </a:lnTo>
                  <a:lnTo>
                    <a:pt x="251783" y="8762"/>
                  </a:lnTo>
                  <a:close/>
                </a:path>
                <a:path w="527050" h="170180">
                  <a:moveTo>
                    <a:pt x="350139" y="0"/>
                  </a:moveTo>
                  <a:lnTo>
                    <a:pt x="342773" y="0"/>
                  </a:lnTo>
                  <a:lnTo>
                    <a:pt x="336042" y="1523"/>
                  </a:lnTo>
                  <a:lnTo>
                    <a:pt x="329844" y="4365"/>
                  </a:lnTo>
                  <a:lnTo>
                    <a:pt x="323723" y="7238"/>
                  </a:lnTo>
                  <a:lnTo>
                    <a:pt x="318389" y="11683"/>
                  </a:lnTo>
                  <a:lnTo>
                    <a:pt x="314071" y="17652"/>
                  </a:lnTo>
                  <a:lnTo>
                    <a:pt x="309626" y="23621"/>
                  </a:lnTo>
                  <a:lnTo>
                    <a:pt x="300389" y="63021"/>
                  </a:lnTo>
                  <a:lnTo>
                    <a:pt x="300163" y="74421"/>
                  </a:lnTo>
                  <a:lnTo>
                    <a:pt x="300660" y="85621"/>
                  </a:lnTo>
                  <a:lnTo>
                    <a:pt x="300718" y="86925"/>
                  </a:lnTo>
                  <a:lnTo>
                    <a:pt x="312039" y="125983"/>
                  </a:lnTo>
                  <a:lnTo>
                    <a:pt x="348361" y="143509"/>
                  </a:lnTo>
                  <a:lnTo>
                    <a:pt x="359292" y="142414"/>
                  </a:lnTo>
                  <a:lnTo>
                    <a:pt x="359797" y="142414"/>
                  </a:lnTo>
                  <a:lnTo>
                    <a:pt x="370173" y="138842"/>
                  </a:lnTo>
                  <a:lnTo>
                    <a:pt x="376275" y="134746"/>
                  </a:lnTo>
                  <a:lnTo>
                    <a:pt x="350139" y="134746"/>
                  </a:lnTo>
                  <a:lnTo>
                    <a:pt x="343396" y="133770"/>
                  </a:lnTo>
                  <a:lnTo>
                    <a:pt x="323786" y="99028"/>
                  </a:lnTo>
                  <a:lnTo>
                    <a:pt x="322625" y="86925"/>
                  </a:lnTo>
                  <a:lnTo>
                    <a:pt x="322500" y="85621"/>
                  </a:lnTo>
                  <a:lnTo>
                    <a:pt x="322193" y="74421"/>
                  </a:lnTo>
                  <a:lnTo>
                    <a:pt x="322165" y="63021"/>
                  </a:lnTo>
                  <a:lnTo>
                    <a:pt x="322437" y="56435"/>
                  </a:lnTo>
                  <a:lnTo>
                    <a:pt x="328041" y="25145"/>
                  </a:lnTo>
                  <a:lnTo>
                    <a:pt x="330200" y="19811"/>
                  </a:lnTo>
                  <a:lnTo>
                    <a:pt x="332994" y="15747"/>
                  </a:lnTo>
                  <a:lnTo>
                    <a:pt x="336550" y="12953"/>
                  </a:lnTo>
                  <a:lnTo>
                    <a:pt x="339979" y="10159"/>
                  </a:lnTo>
                  <a:lnTo>
                    <a:pt x="344297" y="8762"/>
                  </a:lnTo>
                  <a:lnTo>
                    <a:pt x="378496" y="8762"/>
                  </a:lnTo>
                  <a:lnTo>
                    <a:pt x="371697" y="4365"/>
                  </a:lnTo>
                  <a:lnTo>
                    <a:pt x="361715" y="1093"/>
                  </a:lnTo>
                  <a:lnTo>
                    <a:pt x="350139" y="0"/>
                  </a:lnTo>
                  <a:close/>
                </a:path>
                <a:path w="527050" h="170180">
                  <a:moveTo>
                    <a:pt x="378496" y="8762"/>
                  </a:moveTo>
                  <a:lnTo>
                    <a:pt x="355219" y="8762"/>
                  </a:lnTo>
                  <a:lnTo>
                    <a:pt x="360172" y="10921"/>
                  </a:lnTo>
                  <a:lnTo>
                    <a:pt x="364236" y="15112"/>
                  </a:lnTo>
                  <a:lnTo>
                    <a:pt x="376142" y="53022"/>
                  </a:lnTo>
                  <a:lnTo>
                    <a:pt x="376936" y="74421"/>
                  </a:lnTo>
                  <a:lnTo>
                    <a:pt x="376620" y="85621"/>
                  </a:lnTo>
                  <a:lnTo>
                    <a:pt x="366014" y="129920"/>
                  </a:lnTo>
                  <a:lnTo>
                    <a:pt x="359283" y="134746"/>
                  </a:lnTo>
                  <a:lnTo>
                    <a:pt x="376275" y="134746"/>
                  </a:lnTo>
                  <a:lnTo>
                    <a:pt x="395795" y="101774"/>
                  </a:lnTo>
                  <a:lnTo>
                    <a:pt x="399027" y="69976"/>
                  </a:lnTo>
                  <a:lnTo>
                    <a:pt x="398413" y="56435"/>
                  </a:lnTo>
                  <a:lnTo>
                    <a:pt x="398366" y="55419"/>
                  </a:lnTo>
                  <a:lnTo>
                    <a:pt x="398273" y="53421"/>
                  </a:lnTo>
                  <a:lnTo>
                    <a:pt x="396001" y="39195"/>
                  </a:lnTo>
                  <a:lnTo>
                    <a:pt x="392229" y="27183"/>
                  </a:lnTo>
                  <a:lnTo>
                    <a:pt x="386969" y="17398"/>
                  </a:lnTo>
                  <a:lnTo>
                    <a:pt x="380107" y="9804"/>
                  </a:lnTo>
                  <a:lnTo>
                    <a:pt x="378496" y="8762"/>
                  </a:lnTo>
                  <a:close/>
                </a:path>
                <a:path w="527050" h="170180">
                  <a:moveTo>
                    <a:pt x="478155" y="0"/>
                  </a:moveTo>
                  <a:lnTo>
                    <a:pt x="470789" y="0"/>
                  </a:lnTo>
                  <a:lnTo>
                    <a:pt x="464058" y="1523"/>
                  </a:lnTo>
                  <a:lnTo>
                    <a:pt x="457860" y="4365"/>
                  </a:lnTo>
                  <a:lnTo>
                    <a:pt x="451739" y="7238"/>
                  </a:lnTo>
                  <a:lnTo>
                    <a:pt x="446405" y="11683"/>
                  </a:lnTo>
                  <a:lnTo>
                    <a:pt x="442087" y="17652"/>
                  </a:lnTo>
                  <a:lnTo>
                    <a:pt x="437642" y="23621"/>
                  </a:lnTo>
                  <a:lnTo>
                    <a:pt x="428405" y="63021"/>
                  </a:lnTo>
                  <a:lnTo>
                    <a:pt x="428179" y="74421"/>
                  </a:lnTo>
                  <a:lnTo>
                    <a:pt x="428676" y="85621"/>
                  </a:lnTo>
                  <a:lnTo>
                    <a:pt x="428734" y="86925"/>
                  </a:lnTo>
                  <a:lnTo>
                    <a:pt x="440055" y="125983"/>
                  </a:lnTo>
                  <a:lnTo>
                    <a:pt x="476377" y="143509"/>
                  </a:lnTo>
                  <a:lnTo>
                    <a:pt x="487308" y="142414"/>
                  </a:lnTo>
                  <a:lnTo>
                    <a:pt x="487813" y="142414"/>
                  </a:lnTo>
                  <a:lnTo>
                    <a:pt x="498189" y="138842"/>
                  </a:lnTo>
                  <a:lnTo>
                    <a:pt x="504291" y="134746"/>
                  </a:lnTo>
                  <a:lnTo>
                    <a:pt x="478155" y="134746"/>
                  </a:lnTo>
                  <a:lnTo>
                    <a:pt x="471412" y="133770"/>
                  </a:lnTo>
                  <a:lnTo>
                    <a:pt x="451802" y="99028"/>
                  </a:lnTo>
                  <a:lnTo>
                    <a:pt x="450641" y="86925"/>
                  </a:lnTo>
                  <a:lnTo>
                    <a:pt x="450516" y="85621"/>
                  </a:lnTo>
                  <a:lnTo>
                    <a:pt x="450209" y="74421"/>
                  </a:lnTo>
                  <a:lnTo>
                    <a:pt x="450181" y="63021"/>
                  </a:lnTo>
                  <a:lnTo>
                    <a:pt x="450453" y="56435"/>
                  </a:lnTo>
                  <a:lnTo>
                    <a:pt x="456057" y="25145"/>
                  </a:lnTo>
                  <a:lnTo>
                    <a:pt x="458216" y="19811"/>
                  </a:lnTo>
                  <a:lnTo>
                    <a:pt x="461010" y="15747"/>
                  </a:lnTo>
                  <a:lnTo>
                    <a:pt x="464566" y="12953"/>
                  </a:lnTo>
                  <a:lnTo>
                    <a:pt x="467995" y="10159"/>
                  </a:lnTo>
                  <a:lnTo>
                    <a:pt x="472313" y="8762"/>
                  </a:lnTo>
                  <a:lnTo>
                    <a:pt x="506512" y="8762"/>
                  </a:lnTo>
                  <a:lnTo>
                    <a:pt x="499713" y="4365"/>
                  </a:lnTo>
                  <a:lnTo>
                    <a:pt x="489731" y="1093"/>
                  </a:lnTo>
                  <a:lnTo>
                    <a:pt x="478155" y="0"/>
                  </a:lnTo>
                  <a:close/>
                </a:path>
                <a:path w="527050" h="170180">
                  <a:moveTo>
                    <a:pt x="506512" y="8762"/>
                  </a:moveTo>
                  <a:lnTo>
                    <a:pt x="483235" y="8762"/>
                  </a:lnTo>
                  <a:lnTo>
                    <a:pt x="488188" y="10921"/>
                  </a:lnTo>
                  <a:lnTo>
                    <a:pt x="492252" y="15112"/>
                  </a:lnTo>
                  <a:lnTo>
                    <a:pt x="504158" y="53022"/>
                  </a:lnTo>
                  <a:lnTo>
                    <a:pt x="504952" y="74421"/>
                  </a:lnTo>
                  <a:lnTo>
                    <a:pt x="504636" y="85621"/>
                  </a:lnTo>
                  <a:lnTo>
                    <a:pt x="494030" y="129920"/>
                  </a:lnTo>
                  <a:lnTo>
                    <a:pt x="487299" y="134746"/>
                  </a:lnTo>
                  <a:lnTo>
                    <a:pt x="504291" y="134746"/>
                  </a:lnTo>
                  <a:lnTo>
                    <a:pt x="523811" y="101774"/>
                  </a:lnTo>
                  <a:lnTo>
                    <a:pt x="527043" y="69976"/>
                  </a:lnTo>
                  <a:lnTo>
                    <a:pt x="526429" y="56435"/>
                  </a:lnTo>
                  <a:lnTo>
                    <a:pt x="526382" y="55419"/>
                  </a:lnTo>
                  <a:lnTo>
                    <a:pt x="526289" y="53421"/>
                  </a:lnTo>
                  <a:lnTo>
                    <a:pt x="524017" y="39195"/>
                  </a:lnTo>
                  <a:lnTo>
                    <a:pt x="520245" y="27183"/>
                  </a:lnTo>
                  <a:lnTo>
                    <a:pt x="514985" y="17398"/>
                  </a:lnTo>
                  <a:lnTo>
                    <a:pt x="508123" y="9804"/>
                  </a:lnTo>
                  <a:lnTo>
                    <a:pt x="506512" y="8762"/>
                  </a:lnTo>
                  <a:close/>
                </a:path>
              </a:pathLst>
            </a:custGeom>
            <a:solidFill>
              <a:srgbClr val="D5E4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0908" y="2827909"/>
              <a:ext cx="882268" cy="1485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0172" y="2827909"/>
              <a:ext cx="766063" cy="14858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094223" y="3071932"/>
            <a:ext cx="1957070" cy="57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300"/>
              </a:lnSpc>
              <a:spcBef>
                <a:spcPts val="100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Comprehensive</a:t>
            </a:r>
            <a:r>
              <a:rPr sz="140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customer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purchase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data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analyzed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53375" y="2585726"/>
            <a:ext cx="2838450" cy="1590675"/>
            <a:chOff x="7953375" y="2585720"/>
            <a:chExt cx="2838450" cy="1590675"/>
          </a:xfrm>
        </p:grpSpPr>
        <p:sp>
          <p:nvSpPr>
            <p:cNvPr id="9" name="object 9"/>
            <p:cNvSpPr/>
            <p:nvPr/>
          </p:nvSpPr>
          <p:spPr>
            <a:xfrm>
              <a:off x="7953375" y="2585720"/>
              <a:ext cx="2838450" cy="1590675"/>
            </a:xfrm>
            <a:custGeom>
              <a:avLst/>
              <a:gdLst/>
              <a:ahLst/>
              <a:cxnLst/>
              <a:rect l="l" t="t" r="r" b="b"/>
              <a:pathLst>
                <a:path w="2838450" h="1590675">
                  <a:moveTo>
                    <a:pt x="2818638" y="0"/>
                  </a:moveTo>
                  <a:lnTo>
                    <a:pt x="19684" y="0"/>
                  </a:lnTo>
                  <a:lnTo>
                    <a:pt x="16891" y="508"/>
                  </a:lnTo>
                  <a:lnTo>
                    <a:pt x="0" y="19685"/>
                  </a:lnTo>
                  <a:lnTo>
                    <a:pt x="0" y="1570863"/>
                  </a:lnTo>
                  <a:lnTo>
                    <a:pt x="19684" y="1590675"/>
                  </a:lnTo>
                  <a:lnTo>
                    <a:pt x="2818638" y="1590675"/>
                  </a:lnTo>
                  <a:lnTo>
                    <a:pt x="2838450" y="1570863"/>
                  </a:lnTo>
                  <a:lnTo>
                    <a:pt x="2838450" y="19685"/>
                  </a:lnTo>
                  <a:lnTo>
                    <a:pt x="2821558" y="508"/>
                  </a:lnTo>
                  <a:lnTo>
                    <a:pt x="2818638" y="0"/>
                  </a:lnTo>
                  <a:close/>
                </a:path>
              </a:pathLst>
            </a:custGeom>
            <a:solidFill>
              <a:srgbClr val="434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2096" y="2827909"/>
              <a:ext cx="2068195" cy="1927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2096" y="3105912"/>
              <a:ext cx="837946" cy="14185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118475" y="3337617"/>
            <a:ext cx="2249170" cy="57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100"/>
              </a:lnSpc>
              <a:spcBef>
                <a:spcPts val="100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Modern</a:t>
            </a:r>
            <a:r>
              <a:rPr sz="1400" spc="-1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data</a:t>
            </a:r>
            <a:r>
              <a:rPr sz="1400" spc="-1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stack</a:t>
            </a:r>
            <a:r>
              <a:rPr sz="1400" spc="-1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400" spc="-1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end-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to-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end</a:t>
            </a:r>
            <a:r>
              <a:rPr sz="14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24425" y="4357376"/>
            <a:ext cx="5867400" cy="1323975"/>
            <a:chOff x="4924425" y="4357370"/>
            <a:chExt cx="5867400" cy="1323975"/>
          </a:xfrm>
        </p:grpSpPr>
        <p:sp>
          <p:nvSpPr>
            <p:cNvPr id="14" name="object 14"/>
            <p:cNvSpPr/>
            <p:nvPr/>
          </p:nvSpPr>
          <p:spPr>
            <a:xfrm>
              <a:off x="4924425" y="4357370"/>
              <a:ext cx="5867400" cy="1323975"/>
            </a:xfrm>
            <a:custGeom>
              <a:avLst/>
              <a:gdLst/>
              <a:ahLst/>
              <a:cxnLst/>
              <a:rect l="l" t="t" r="r" b="b"/>
              <a:pathLst>
                <a:path w="5867400" h="1323975">
                  <a:moveTo>
                    <a:pt x="5847588" y="0"/>
                  </a:moveTo>
                  <a:lnTo>
                    <a:pt x="19685" y="0"/>
                  </a:lnTo>
                  <a:lnTo>
                    <a:pt x="16890" y="507"/>
                  </a:lnTo>
                  <a:lnTo>
                    <a:pt x="0" y="19685"/>
                  </a:lnTo>
                  <a:lnTo>
                    <a:pt x="0" y="1304213"/>
                  </a:lnTo>
                  <a:lnTo>
                    <a:pt x="19685" y="1323962"/>
                  </a:lnTo>
                  <a:lnTo>
                    <a:pt x="5847588" y="1323962"/>
                  </a:lnTo>
                  <a:lnTo>
                    <a:pt x="5867400" y="1304213"/>
                  </a:lnTo>
                  <a:lnTo>
                    <a:pt x="5867400" y="19685"/>
                  </a:lnTo>
                  <a:lnTo>
                    <a:pt x="5850508" y="507"/>
                  </a:lnTo>
                  <a:lnTo>
                    <a:pt x="5847588" y="0"/>
                  </a:lnTo>
                  <a:close/>
                </a:path>
              </a:pathLst>
            </a:custGeom>
            <a:solidFill>
              <a:srgbClr val="434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18100" y="4606925"/>
              <a:ext cx="848360" cy="18770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67044" y="4601845"/>
              <a:ext cx="750824" cy="19278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094229" y="4838294"/>
            <a:ext cx="4817745" cy="6286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spcBef>
                <a:spcPts val="795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Identifying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spending</a:t>
            </a:r>
            <a:r>
              <a:rPr sz="14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patterns,</a:t>
            </a:r>
            <a:r>
              <a:rPr sz="140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customer</a:t>
            </a:r>
            <a:r>
              <a:rPr sz="140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segments,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4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product</a:t>
            </a:r>
            <a:endParaRPr sz="1400">
              <a:latin typeface="Trebuchet MS"/>
              <a:cs typeface="Trebuchet MS"/>
            </a:endParaRPr>
          </a:p>
          <a:p>
            <a:pPr marL="12700">
              <a:spcBef>
                <a:spcPts val="695"/>
              </a:spcBef>
            </a:pP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preferences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911090" y="731342"/>
            <a:ext cx="5821680" cy="10718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35"/>
              </a:spcBef>
            </a:pPr>
            <a:r>
              <a:rPr spc="155" dirty="0">
                <a:solidFill>
                  <a:srgbClr val="F888C6"/>
                </a:solidFill>
              </a:rPr>
              <a:t>Customer</a:t>
            </a:r>
            <a:r>
              <a:rPr spc="-35" dirty="0">
                <a:solidFill>
                  <a:srgbClr val="F888C6"/>
                </a:solidFill>
              </a:rPr>
              <a:t> </a:t>
            </a:r>
            <a:r>
              <a:rPr spc="150" dirty="0">
                <a:solidFill>
                  <a:srgbClr val="F888C6"/>
                </a:solidFill>
              </a:rPr>
              <a:t>Shopping</a:t>
            </a:r>
            <a:r>
              <a:rPr spc="-45" dirty="0">
                <a:solidFill>
                  <a:srgbClr val="F888C6"/>
                </a:solidFill>
              </a:rPr>
              <a:t> </a:t>
            </a:r>
            <a:r>
              <a:rPr spc="130" dirty="0">
                <a:solidFill>
                  <a:srgbClr val="F888C6"/>
                </a:solidFill>
              </a:rPr>
              <a:t>Behavior </a:t>
            </a:r>
            <a:r>
              <a:rPr spc="114" dirty="0">
                <a:solidFill>
                  <a:srgbClr val="F888C6"/>
                </a:solidFill>
              </a:rPr>
              <a:t>Analysis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911090" y="2094744"/>
            <a:ext cx="1809114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A</a:t>
            </a:r>
            <a:r>
              <a:rPr sz="1400" spc="-1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Data</a:t>
            </a:r>
            <a:r>
              <a:rPr sz="1400" spc="-1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5E4EE"/>
                </a:solidFill>
                <a:latin typeface="Trebuchet MS"/>
                <a:cs typeface="Trebuchet MS"/>
              </a:rPr>
              <a:t>Analytics</a:t>
            </a:r>
            <a:r>
              <a:rPr sz="1400" spc="-1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Project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4285996" cy="6438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6477000"/>
          </a:xfrm>
          <a:custGeom>
            <a:avLst/>
            <a:gdLst/>
            <a:ahLst/>
            <a:cxnLst/>
            <a:rect l="l" t="t" r="r" b="b"/>
            <a:pathLst>
              <a:path w="11430000" h="6477000">
                <a:moveTo>
                  <a:pt x="11430000" y="0"/>
                </a:moveTo>
                <a:lnTo>
                  <a:pt x="0" y="0"/>
                </a:lnTo>
                <a:lnTo>
                  <a:pt x="0" y="6477000"/>
                </a:lnTo>
                <a:lnTo>
                  <a:pt x="11430000" y="6477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923915" y="1971039"/>
            <a:ext cx="4876800" cy="1143000"/>
            <a:chOff x="5923915" y="1971039"/>
            <a:chExt cx="4876800" cy="1143000"/>
          </a:xfrm>
        </p:grpSpPr>
        <p:sp>
          <p:nvSpPr>
            <p:cNvPr id="4" name="object 4"/>
            <p:cNvSpPr/>
            <p:nvPr/>
          </p:nvSpPr>
          <p:spPr>
            <a:xfrm>
              <a:off x="5942965" y="1980564"/>
              <a:ext cx="4848225" cy="1123950"/>
            </a:xfrm>
            <a:custGeom>
              <a:avLst/>
              <a:gdLst/>
              <a:ahLst/>
              <a:cxnLst/>
              <a:rect l="l" t="t" r="r" b="b"/>
              <a:pathLst>
                <a:path w="4848225" h="1123950">
                  <a:moveTo>
                    <a:pt x="4836795" y="0"/>
                  </a:moveTo>
                  <a:lnTo>
                    <a:pt x="71247" y="0"/>
                  </a:lnTo>
                  <a:lnTo>
                    <a:pt x="51688" y="3429"/>
                  </a:lnTo>
                  <a:lnTo>
                    <a:pt x="15621" y="26035"/>
                  </a:lnTo>
                  <a:lnTo>
                    <a:pt x="0" y="62357"/>
                  </a:lnTo>
                  <a:lnTo>
                    <a:pt x="0" y="1061593"/>
                  </a:lnTo>
                  <a:lnTo>
                    <a:pt x="3937" y="1078738"/>
                  </a:lnTo>
                  <a:lnTo>
                    <a:pt x="29718" y="1110234"/>
                  </a:lnTo>
                  <a:lnTo>
                    <a:pt x="66294" y="1123569"/>
                  </a:lnTo>
                  <a:lnTo>
                    <a:pt x="71247" y="1123950"/>
                  </a:lnTo>
                  <a:lnTo>
                    <a:pt x="4836795" y="1123950"/>
                  </a:lnTo>
                  <a:lnTo>
                    <a:pt x="4838445" y="1123569"/>
                  </a:lnTo>
                  <a:lnTo>
                    <a:pt x="4848225" y="1112520"/>
                  </a:lnTo>
                  <a:lnTo>
                    <a:pt x="4848225" y="11430"/>
                  </a:lnTo>
                  <a:lnTo>
                    <a:pt x="483679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854" y="1971039"/>
              <a:ext cx="4857115" cy="1143000"/>
            </a:xfrm>
            <a:custGeom>
              <a:avLst/>
              <a:gdLst/>
              <a:ahLst/>
              <a:cxnLst/>
              <a:rect l="l" t="t" r="r" b="b"/>
              <a:pathLst>
                <a:path w="4857115" h="1143000">
                  <a:moveTo>
                    <a:pt x="4840351" y="0"/>
                  </a:moveTo>
                  <a:lnTo>
                    <a:pt x="75311" y="0"/>
                  </a:lnTo>
                  <a:lnTo>
                    <a:pt x="67818" y="381"/>
                  </a:lnTo>
                  <a:lnTo>
                    <a:pt x="26924" y="17272"/>
                  </a:lnTo>
                  <a:lnTo>
                    <a:pt x="2412" y="54101"/>
                  </a:lnTo>
                  <a:lnTo>
                    <a:pt x="0" y="65405"/>
                  </a:lnTo>
                  <a:lnTo>
                    <a:pt x="1016" y="61340"/>
                  </a:lnTo>
                  <a:lnTo>
                    <a:pt x="8762" y="47371"/>
                  </a:lnTo>
                  <a:lnTo>
                    <a:pt x="46100" y="23368"/>
                  </a:lnTo>
                  <a:lnTo>
                    <a:pt x="75311" y="19050"/>
                  </a:lnTo>
                  <a:lnTo>
                    <a:pt x="4836541" y="19050"/>
                  </a:lnTo>
                  <a:lnTo>
                    <a:pt x="4837811" y="20320"/>
                  </a:lnTo>
                  <a:lnTo>
                    <a:pt x="4837684" y="1122807"/>
                  </a:lnTo>
                  <a:lnTo>
                    <a:pt x="4836541" y="1123950"/>
                  </a:lnTo>
                  <a:lnTo>
                    <a:pt x="75311" y="1123950"/>
                  </a:lnTo>
                  <a:lnTo>
                    <a:pt x="67818" y="1123696"/>
                  </a:lnTo>
                  <a:lnTo>
                    <a:pt x="26924" y="1110996"/>
                  </a:lnTo>
                  <a:lnTo>
                    <a:pt x="1016" y="1081659"/>
                  </a:lnTo>
                  <a:lnTo>
                    <a:pt x="0" y="1077595"/>
                  </a:lnTo>
                  <a:lnTo>
                    <a:pt x="508" y="1081659"/>
                  </a:lnTo>
                  <a:lnTo>
                    <a:pt x="21462" y="1120648"/>
                  </a:lnTo>
                  <a:lnTo>
                    <a:pt x="60451" y="1141602"/>
                  </a:lnTo>
                  <a:lnTo>
                    <a:pt x="75311" y="1143000"/>
                  </a:lnTo>
                  <a:lnTo>
                    <a:pt x="4840351" y="1143000"/>
                  </a:lnTo>
                  <a:lnTo>
                    <a:pt x="4845685" y="1140714"/>
                  </a:lnTo>
                  <a:lnTo>
                    <a:pt x="4854575" y="1131824"/>
                  </a:lnTo>
                  <a:lnTo>
                    <a:pt x="4856861" y="1126489"/>
                  </a:lnTo>
                  <a:lnTo>
                    <a:pt x="4856861" y="16510"/>
                  </a:lnTo>
                  <a:lnTo>
                    <a:pt x="4854575" y="11175"/>
                  </a:lnTo>
                  <a:lnTo>
                    <a:pt x="4845685" y="2286"/>
                  </a:lnTo>
                  <a:lnTo>
                    <a:pt x="4840351" y="0"/>
                  </a:lnTo>
                  <a:close/>
                </a:path>
              </a:pathLst>
            </a:custGeom>
            <a:solidFill>
              <a:srgbClr val="5C5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3915" y="1971039"/>
              <a:ext cx="76198" cy="1143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9190" y="2238628"/>
              <a:ext cx="940265" cy="1435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5637" y="2233548"/>
              <a:ext cx="1384935" cy="19278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194805" y="2631192"/>
            <a:ext cx="3191510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Age,</a:t>
            </a:r>
            <a:r>
              <a:rPr sz="1400" spc="-114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Gender,</a:t>
            </a:r>
            <a:r>
              <a:rPr sz="1400" spc="-10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D4E3EE"/>
                </a:solidFill>
                <a:latin typeface="Trebuchet MS"/>
                <a:cs typeface="Trebuchet MS"/>
              </a:rPr>
              <a:t>Location,</a:t>
            </a:r>
            <a:r>
              <a:rPr sz="1400" spc="-114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D4E3EE"/>
                </a:solidFill>
                <a:latin typeface="Trebuchet MS"/>
                <a:cs typeface="Trebuchet MS"/>
              </a:rPr>
              <a:t>Subscription</a:t>
            </a:r>
            <a:r>
              <a:rPr sz="1400" spc="-12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Status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23915" y="3295015"/>
            <a:ext cx="4876800" cy="1143000"/>
            <a:chOff x="5923915" y="3295015"/>
            <a:chExt cx="4876800" cy="1143000"/>
          </a:xfrm>
        </p:grpSpPr>
        <p:sp>
          <p:nvSpPr>
            <p:cNvPr id="11" name="object 11"/>
            <p:cNvSpPr/>
            <p:nvPr/>
          </p:nvSpPr>
          <p:spPr>
            <a:xfrm>
              <a:off x="5942965" y="3304540"/>
              <a:ext cx="4848225" cy="1123950"/>
            </a:xfrm>
            <a:custGeom>
              <a:avLst/>
              <a:gdLst/>
              <a:ahLst/>
              <a:cxnLst/>
              <a:rect l="l" t="t" r="r" b="b"/>
              <a:pathLst>
                <a:path w="4848225" h="1123950">
                  <a:moveTo>
                    <a:pt x="4836795" y="0"/>
                  </a:moveTo>
                  <a:lnTo>
                    <a:pt x="71247" y="0"/>
                  </a:lnTo>
                  <a:lnTo>
                    <a:pt x="51688" y="3429"/>
                  </a:lnTo>
                  <a:lnTo>
                    <a:pt x="15621" y="26035"/>
                  </a:lnTo>
                  <a:lnTo>
                    <a:pt x="0" y="62357"/>
                  </a:lnTo>
                  <a:lnTo>
                    <a:pt x="0" y="1061593"/>
                  </a:lnTo>
                  <a:lnTo>
                    <a:pt x="3937" y="1078738"/>
                  </a:lnTo>
                  <a:lnTo>
                    <a:pt x="29718" y="1110234"/>
                  </a:lnTo>
                  <a:lnTo>
                    <a:pt x="66294" y="1123569"/>
                  </a:lnTo>
                  <a:lnTo>
                    <a:pt x="71247" y="1123950"/>
                  </a:lnTo>
                  <a:lnTo>
                    <a:pt x="4836795" y="1123950"/>
                  </a:lnTo>
                  <a:lnTo>
                    <a:pt x="4838445" y="1123569"/>
                  </a:lnTo>
                  <a:lnTo>
                    <a:pt x="4848225" y="1112520"/>
                  </a:lnTo>
                  <a:lnTo>
                    <a:pt x="4848225" y="11430"/>
                  </a:lnTo>
                  <a:lnTo>
                    <a:pt x="483679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3854" y="3295015"/>
              <a:ext cx="4857115" cy="1143000"/>
            </a:xfrm>
            <a:custGeom>
              <a:avLst/>
              <a:gdLst/>
              <a:ahLst/>
              <a:cxnLst/>
              <a:rect l="l" t="t" r="r" b="b"/>
              <a:pathLst>
                <a:path w="4857115" h="1143000">
                  <a:moveTo>
                    <a:pt x="4840351" y="0"/>
                  </a:moveTo>
                  <a:lnTo>
                    <a:pt x="75311" y="0"/>
                  </a:lnTo>
                  <a:lnTo>
                    <a:pt x="67818" y="381"/>
                  </a:lnTo>
                  <a:lnTo>
                    <a:pt x="26924" y="17272"/>
                  </a:lnTo>
                  <a:lnTo>
                    <a:pt x="2412" y="54102"/>
                  </a:lnTo>
                  <a:lnTo>
                    <a:pt x="0" y="65405"/>
                  </a:lnTo>
                  <a:lnTo>
                    <a:pt x="1016" y="61341"/>
                  </a:lnTo>
                  <a:lnTo>
                    <a:pt x="8762" y="47371"/>
                  </a:lnTo>
                  <a:lnTo>
                    <a:pt x="46100" y="23368"/>
                  </a:lnTo>
                  <a:lnTo>
                    <a:pt x="75311" y="19050"/>
                  </a:lnTo>
                  <a:lnTo>
                    <a:pt x="4836541" y="19050"/>
                  </a:lnTo>
                  <a:lnTo>
                    <a:pt x="4837811" y="20320"/>
                  </a:lnTo>
                  <a:lnTo>
                    <a:pt x="4837684" y="1122807"/>
                  </a:lnTo>
                  <a:lnTo>
                    <a:pt x="4836541" y="1123950"/>
                  </a:lnTo>
                  <a:lnTo>
                    <a:pt x="75311" y="1123950"/>
                  </a:lnTo>
                  <a:lnTo>
                    <a:pt x="67818" y="1123696"/>
                  </a:lnTo>
                  <a:lnTo>
                    <a:pt x="26924" y="1110996"/>
                  </a:lnTo>
                  <a:lnTo>
                    <a:pt x="1016" y="1081659"/>
                  </a:lnTo>
                  <a:lnTo>
                    <a:pt x="0" y="1077595"/>
                  </a:lnTo>
                  <a:lnTo>
                    <a:pt x="508" y="1081659"/>
                  </a:lnTo>
                  <a:lnTo>
                    <a:pt x="21462" y="1120648"/>
                  </a:lnTo>
                  <a:lnTo>
                    <a:pt x="60451" y="1141603"/>
                  </a:lnTo>
                  <a:lnTo>
                    <a:pt x="75311" y="1143000"/>
                  </a:lnTo>
                  <a:lnTo>
                    <a:pt x="4840351" y="1143000"/>
                  </a:lnTo>
                  <a:lnTo>
                    <a:pt x="4845685" y="1140714"/>
                  </a:lnTo>
                  <a:lnTo>
                    <a:pt x="4854575" y="1131824"/>
                  </a:lnTo>
                  <a:lnTo>
                    <a:pt x="4856861" y="1126490"/>
                  </a:lnTo>
                  <a:lnTo>
                    <a:pt x="4856861" y="16510"/>
                  </a:lnTo>
                  <a:lnTo>
                    <a:pt x="4854575" y="11176"/>
                  </a:lnTo>
                  <a:lnTo>
                    <a:pt x="4845685" y="2286"/>
                  </a:lnTo>
                  <a:lnTo>
                    <a:pt x="4840351" y="0"/>
                  </a:lnTo>
                  <a:close/>
                </a:path>
              </a:pathLst>
            </a:custGeom>
            <a:solidFill>
              <a:srgbClr val="5C5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3915" y="3295015"/>
              <a:ext cx="76198" cy="1143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9444" y="3559429"/>
              <a:ext cx="882269" cy="1485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8581" y="3559429"/>
              <a:ext cx="650367" cy="14858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20079" y="4018788"/>
              <a:ext cx="351790" cy="158115"/>
            </a:xfrm>
            <a:custGeom>
              <a:avLst/>
              <a:gdLst/>
              <a:ahLst/>
              <a:cxnLst/>
              <a:rect l="l" t="t" r="r" b="b"/>
              <a:pathLst>
                <a:path w="351790" h="158114">
                  <a:moveTo>
                    <a:pt x="15621" y="0"/>
                  </a:moveTo>
                  <a:lnTo>
                    <a:pt x="0" y="0"/>
                  </a:lnTo>
                  <a:lnTo>
                    <a:pt x="0" y="126492"/>
                  </a:lnTo>
                  <a:lnTo>
                    <a:pt x="15621" y="126492"/>
                  </a:lnTo>
                  <a:lnTo>
                    <a:pt x="15621" y="0"/>
                  </a:lnTo>
                  <a:close/>
                </a:path>
                <a:path w="351790" h="158114">
                  <a:moveTo>
                    <a:pt x="58800" y="46989"/>
                  </a:moveTo>
                  <a:lnTo>
                    <a:pt x="44069" y="46989"/>
                  </a:lnTo>
                  <a:lnTo>
                    <a:pt x="44069" y="107823"/>
                  </a:lnTo>
                  <a:lnTo>
                    <a:pt x="46270" y="114426"/>
                  </a:lnTo>
                  <a:lnTo>
                    <a:pt x="46355" y="114681"/>
                  </a:lnTo>
                  <a:lnTo>
                    <a:pt x="50926" y="120014"/>
                  </a:lnTo>
                  <a:lnTo>
                    <a:pt x="55372" y="125475"/>
                  </a:lnTo>
                  <a:lnTo>
                    <a:pt x="60960" y="128269"/>
                  </a:lnTo>
                  <a:lnTo>
                    <a:pt x="74803" y="128269"/>
                  </a:lnTo>
                  <a:lnTo>
                    <a:pt x="81534" y="127381"/>
                  </a:lnTo>
                  <a:lnTo>
                    <a:pt x="87630" y="125603"/>
                  </a:lnTo>
                  <a:lnTo>
                    <a:pt x="85986" y="114681"/>
                  </a:lnTo>
                  <a:lnTo>
                    <a:pt x="85948" y="114426"/>
                  </a:lnTo>
                  <a:lnTo>
                    <a:pt x="68580" y="114426"/>
                  </a:lnTo>
                  <a:lnTo>
                    <a:pt x="64770" y="112775"/>
                  </a:lnTo>
                  <a:lnTo>
                    <a:pt x="62357" y="109474"/>
                  </a:lnTo>
                  <a:lnTo>
                    <a:pt x="60071" y="106172"/>
                  </a:lnTo>
                  <a:lnTo>
                    <a:pt x="58800" y="100711"/>
                  </a:lnTo>
                  <a:lnTo>
                    <a:pt x="58800" y="46989"/>
                  </a:lnTo>
                  <a:close/>
                </a:path>
                <a:path w="351790" h="158114">
                  <a:moveTo>
                    <a:pt x="85471" y="111251"/>
                  </a:moveTo>
                  <a:lnTo>
                    <a:pt x="81407" y="113284"/>
                  </a:lnTo>
                  <a:lnTo>
                    <a:pt x="77597" y="114426"/>
                  </a:lnTo>
                  <a:lnTo>
                    <a:pt x="85948" y="114426"/>
                  </a:lnTo>
                  <a:lnTo>
                    <a:pt x="85471" y="111251"/>
                  </a:lnTo>
                  <a:close/>
                </a:path>
                <a:path w="351790" h="158114">
                  <a:moveTo>
                    <a:pt x="81661" y="34036"/>
                  </a:moveTo>
                  <a:lnTo>
                    <a:pt x="34417" y="34036"/>
                  </a:lnTo>
                  <a:lnTo>
                    <a:pt x="34417" y="46989"/>
                  </a:lnTo>
                  <a:lnTo>
                    <a:pt x="81661" y="46989"/>
                  </a:lnTo>
                  <a:lnTo>
                    <a:pt x="81661" y="34036"/>
                  </a:lnTo>
                  <a:close/>
                </a:path>
                <a:path w="351790" h="158114">
                  <a:moveTo>
                    <a:pt x="58800" y="8381"/>
                  </a:moveTo>
                  <a:lnTo>
                    <a:pt x="44069" y="14731"/>
                  </a:lnTo>
                  <a:lnTo>
                    <a:pt x="44069" y="34036"/>
                  </a:lnTo>
                  <a:lnTo>
                    <a:pt x="58800" y="34036"/>
                  </a:lnTo>
                  <a:lnTo>
                    <a:pt x="58800" y="8381"/>
                  </a:lnTo>
                  <a:close/>
                </a:path>
                <a:path w="351790" h="158114">
                  <a:moveTo>
                    <a:pt x="136398" y="32257"/>
                  </a:moveTo>
                  <a:lnTo>
                    <a:pt x="100536" y="60721"/>
                  </a:lnTo>
                  <a:lnTo>
                    <a:pt x="97409" y="81406"/>
                  </a:lnTo>
                  <a:lnTo>
                    <a:pt x="98170" y="91811"/>
                  </a:lnTo>
                  <a:lnTo>
                    <a:pt x="121697" y="125301"/>
                  </a:lnTo>
                  <a:lnTo>
                    <a:pt x="136271" y="128269"/>
                  </a:lnTo>
                  <a:lnTo>
                    <a:pt x="143510" y="128269"/>
                  </a:lnTo>
                  <a:lnTo>
                    <a:pt x="150113" y="127000"/>
                  </a:lnTo>
                  <a:lnTo>
                    <a:pt x="155956" y="124587"/>
                  </a:lnTo>
                  <a:lnTo>
                    <a:pt x="160655" y="122809"/>
                  </a:lnTo>
                  <a:lnTo>
                    <a:pt x="164211" y="120523"/>
                  </a:lnTo>
                  <a:lnTo>
                    <a:pt x="166497" y="117982"/>
                  </a:lnTo>
                  <a:lnTo>
                    <a:pt x="164623" y="114426"/>
                  </a:lnTo>
                  <a:lnTo>
                    <a:pt x="131699" y="114426"/>
                  </a:lnTo>
                  <a:lnTo>
                    <a:pt x="125603" y="111887"/>
                  </a:lnTo>
                  <a:lnTo>
                    <a:pt x="112903" y="81914"/>
                  </a:lnTo>
                  <a:lnTo>
                    <a:pt x="172847" y="81914"/>
                  </a:lnTo>
                  <a:lnTo>
                    <a:pt x="173609" y="78867"/>
                  </a:lnTo>
                  <a:lnTo>
                    <a:pt x="174117" y="75437"/>
                  </a:lnTo>
                  <a:lnTo>
                    <a:pt x="174013" y="70475"/>
                  </a:lnTo>
                  <a:lnTo>
                    <a:pt x="173977" y="69976"/>
                  </a:lnTo>
                  <a:lnTo>
                    <a:pt x="113284" y="69976"/>
                  </a:lnTo>
                  <a:lnTo>
                    <a:pt x="113899" y="63454"/>
                  </a:lnTo>
                  <a:lnTo>
                    <a:pt x="113919" y="63245"/>
                  </a:lnTo>
                  <a:lnTo>
                    <a:pt x="116277" y="57785"/>
                  </a:lnTo>
                  <a:lnTo>
                    <a:pt x="116332" y="57657"/>
                  </a:lnTo>
                  <a:lnTo>
                    <a:pt x="124968" y="48513"/>
                  </a:lnTo>
                  <a:lnTo>
                    <a:pt x="130556" y="46100"/>
                  </a:lnTo>
                  <a:lnTo>
                    <a:pt x="166209" y="46100"/>
                  </a:lnTo>
                  <a:lnTo>
                    <a:pt x="164211" y="43434"/>
                  </a:lnTo>
                  <a:lnTo>
                    <a:pt x="158686" y="38580"/>
                  </a:lnTo>
                  <a:lnTo>
                    <a:pt x="152209" y="35083"/>
                  </a:lnTo>
                  <a:lnTo>
                    <a:pt x="145037" y="33041"/>
                  </a:lnTo>
                  <a:lnTo>
                    <a:pt x="145646" y="33041"/>
                  </a:lnTo>
                  <a:lnTo>
                    <a:pt x="136398" y="32257"/>
                  </a:lnTo>
                  <a:close/>
                </a:path>
                <a:path w="351790" h="158114">
                  <a:moveTo>
                    <a:pt x="160274" y="106172"/>
                  </a:moveTo>
                  <a:lnTo>
                    <a:pt x="154559" y="111632"/>
                  </a:lnTo>
                  <a:lnTo>
                    <a:pt x="147574" y="114426"/>
                  </a:lnTo>
                  <a:lnTo>
                    <a:pt x="164623" y="114426"/>
                  </a:lnTo>
                  <a:lnTo>
                    <a:pt x="160274" y="106172"/>
                  </a:lnTo>
                  <a:close/>
                </a:path>
                <a:path w="351790" h="158114">
                  <a:moveTo>
                    <a:pt x="166209" y="46100"/>
                  </a:moveTo>
                  <a:lnTo>
                    <a:pt x="144145" y="46100"/>
                  </a:lnTo>
                  <a:lnTo>
                    <a:pt x="149733" y="48513"/>
                  </a:lnTo>
                  <a:lnTo>
                    <a:pt x="153797" y="53339"/>
                  </a:lnTo>
                  <a:lnTo>
                    <a:pt x="157374" y="57657"/>
                  </a:lnTo>
                  <a:lnTo>
                    <a:pt x="157480" y="57785"/>
                  </a:lnTo>
                  <a:lnTo>
                    <a:pt x="159341" y="63245"/>
                  </a:lnTo>
                  <a:lnTo>
                    <a:pt x="159385" y="69976"/>
                  </a:lnTo>
                  <a:lnTo>
                    <a:pt x="173977" y="69976"/>
                  </a:lnTo>
                  <a:lnTo>
                    <a:pt x="173497" y="63454"/>
                  </a:lnTo>
                  <a:lnTo>
                    <a:pt x="171640" y="55895"/>
                  </a:lnTo>
                  <a:lnTo>
                    <a:pt x="168544" y="49218"/>
                  </a:lnTo>
                  <a:lnTo>
                    <a:pt x="166209" y="46100"/>
                  </a:lnTo>
                  <a:close/>
                </a:path>
                <a:path w="351790" h="158114">
                  <a:moveTo>
                    <a:pt x="200787" y="34036"/>
                  </a:moveTo>
                  <a:lnTo>
                    <a:pt x="191262" y="34036"/>
                  </a:lnTo>
                  <a:lnTo>
                    <a:pt x="191262" y="126492"/>
                  </a:lnTo>
                  <a:lnTo>
                    <a:pt x="205994" y="126492"/>
                  </a:lnTo>
                  <a:lnTo>
                    <a:pt x="205994" y="58293"/>
                  </a:lnTo>
                  <a:lnTo>
                    <a:pt x="207391" y="55244"/>
                  </a:lnTo>
                  <a:lnTo>
                    <a:pt x="209676" y="52450"/>
                  </a:lnTo>
                  <a:lnTo>
                    <a:pt x="213106" y="49911"/>
                  </a:lnTo>
                  <a:lnTo>
                    <a:pt x="216242" y="47498"/>
                  </a:lnTo>
                  <a:lnTo>
                    <a:pt x="216090" y="47498"/>
                  </a:lnTo>
                  <a:lnTo>
                    <a:pt x="219583" y="46100"/>
                  </a:lnTo>
                  <a:lnTo>
                    <a:pt x="299660" y="46100"/>
                  </a:lnTo>
                  <a:lnTo>
                    <a:pt x="298512" y="44704"/>
                  </a:lnTo>
                  <a:lnTo>
                    <a:pt x="205740" y="44704"/>
                  </a:lnTo>
                  <a:lnTo>
                    <a:pt x="200787" y="34036"/>
                  </a:lnTo>
                  <a:close/>
                </a:path>
                <a:path w="351790" h="158114">
                  <a:moveTo>
                    <a:pt x="266954" y="46100"/>
                  </a:moveTo>
                  <a:lnTo>
                    <a:pt x="227584" y="46100"/>
                  </a:lnTo>
                  <a:lnTo>
                    <a:pt x="231648" y="47498"/>
                  </a:lnTo>
                  <a:lnTo>
                    <a:pt x="237871" y="52705"/>
                  </a:lnTo>
                  <a:lnTo>
                    <a:pt x="239395" y="56261"/>
                  </a:lnTo>
                  <a:lnTo>
                    <a:pt x="239395" y="126492"/>
                  </a:lnTo>
                  <a:lnTo>
                    <a:pt x="254126" y="126492"/>
                  </a:lnTo>
                  <a:lnTo>
                    <a:pt x="254126" y="58293"/>
                  </a:lnTo>
                  <a:lnTo>
                    <a:pt x="254812" y="56261"/>
                  </a:lnTo>
                  <a:lnTo>
                    <a:pt x="263484" y="47498"/>
                  </a:lnTo>
                  <a:lnTo>
                    <a:pt x="263321" y="47498"/>
                  </a:lnTo>
                  <a:lnTo>
                    <a:pt x="266954" y="46100"/>
                  </a:lnTo>
                  <a:close/>
                </a:path>
                <a:path w="351790" h="158114">
                  <a:moveTo>
                    <a:pt x="299660" y="46100"/>
                  </a:moveTo>
                  <a:lnTo>
                    <a:pt x="270510" y="46100"/>
                  </a:lnTo>
                  <a:lnTo>
                    <a:pt x="277963" y="47498"/>
                  </a:lnTo>
                  <a:lnTo>
                    <a:pt x="283257" y="51593"/>
                  </a:lnTo>
                  <a:lnTo>
                    <a:pt x="286397" y="58293"/>
                  </a:lnTo>
                  <a:lnTo>
                    <a:pt x="286458" y="58423"/>
                  </a:lnTo>
                  <a:lnTo>
                    <a:pt x="287527" y="67944"/>
                  </a:lnTo>
                  <a:lnTo>
                    <a:pt x="287527" y="126492"/>
                  </a:lnTo>
                  <a:lnTo>
                    <a:pt x="302260" y="126492"/>
                  </a:lnTo>
                  <a:lnTo>
                    <a:pt x="302260" y="54482"/>
                  </a:lnTo>
                  <a:lnTo>
                    <a:pt x="299974" y="46481"/>
                  </a:lnTo>
                  <a:lnTo>
                    <a:pt x="299660" y="46100"/>
                  </a:lnTo>
                  <a:close/>
                </a:path>
                <a:path w="351790" h="158114">
                  <a:moveTo>
                    <a:pt x="227075" y="32257"/>
                  </a:moveTo>
                  <a:lnTo>
                    <a:pt x="218567" y="32257"/>
                  </a:lnTo>
                  <a:lnTo>
                    <a:pt x="211455" y="36449"/>
                  </a:lnTo>
                  <a:lnTo>
                    <a:pt x="205740" y="44704"/>
                  </a:lnTo>
                  <a:lnTo>
                    <a:pt x="252095" y="44704"/>
                  </a:lnTo>
                  <a:lnTo>
                    <a:pt x="247882" y="39276"/>
                  </a:lnTo>
                  <a:lnTo>
                    <a:pt x="242300" y="35385"/>
                  </a:lnTo>
                  <a:lnTo>
                    <a:pt x="235360" y="33041"/>
                  </a:lnTo>
                  <a:lnTo>
                    <a:pt x="227075" y="32257"/>
                  </a:lnTo>
                  <a:close/>
                </a:path>
                <a:path w="351790" h="158114">
                  <a:moveTo>
                    <a:pt x="283845" y="32257"/>
                  </a:moveTo>
                  <a:lnTo>
                    <a:pt x="270510" y="32257"/>
                  </a:lnTo>
                  <a:lnTo>
                    <a:pt x="265811" y="33528"/>
                  </a:lnTo>
                  <a:lnTo>
                    <a:pt x="261366" y="35813"/>
                  </a:lnTo>
                  <a:lnTo>
                    <a:pt x="256794" y="38226"/>
                  </a:lnTo>
                  <a:lnTo>
                    <a:pt x="253746" y="41148"/>
                  </a:lnTo>
                  <a:lnTo>
                    <a:pt x="252095" y="44704"/>
                  </a:lnTo>
                  <a:lnTo>
                    <a:pt x="298512" y="44704"/>
                  </a:lnTo>
                  <a:lnTo>
                    <a:pt x="295275" y="40767"/>
                  </a:lnTo>
                  <a:lnTo>
                    <a:pt x="290575" y="35179"/>
                  </a:lnTo>
                  <a:lnTo>
                    <a:pt x="283845" y="32257"/>
                  </a:lnTo>
                  <a:close/>
                </a:path>
                <a:path w="351790" h="158114">
                  <a:moveTo>
                    <a:pt x="343662" y="102616"/>
                  </a:moveTo>
                  <a:lnTo>
                    <a:pt x="337566" y="102616"/>
                  </a:lnTo>
                  <a:lnTo>
                    <a:pt x="334899" y="103631"/>
                  </a:lnTo>
                  <a:lnTo>
                    <a:pt x="332740" y="105537"/>
                  </a:lnTo>
                  <a:lnTo>
                    <a:pt x="330580" y="107568"/>
                  </a:lnTo>
                  <a:lnTo>
                    <a:pt x="329565" y="110109"/>
                  </a:lnTo>
                  <a:lnTo>
                    <a:pt x="329565" y="117601"/>
                  </a:lnTo>
                  <a:lnTo>
                    <a:pt x="331850" y="120904"/>
                  </a:lnTo>
                  <a:lnTo>
                    <a:pt x="336296" y="123317"/>
                  </a:lnTo>
                  <a:lnTo>
                    <a:pt x="337820" y="125856"/>
                  </a:lnTo>
                  <a:lnTo>
                    <a:pt x="338581" y="128397"/>
                  </a:lnTo>
                  <a:lnTo>
                    <a:pt x="338581" y="136651"/>
                  </a:lnTo>
                  <a:lnTo>
                    <a:pt x="334137" y="143510"/>
                  </a:lnTo>
                  <a:lnTo>
                    <a:pt x="325247" y="151637"/>
                  </a:lnTo>
                  <a:lnTo>
                    <a:pt x="329184" y="157861"/>
                  </a:lnTo>
                  <a:lnTo>
                    <a:pt x="351790" y="124079"/>
                  </a:lnTo>
                  <a:lnTo>
                    <a:pt x="351790" y="112649"/>
                  </a:lnTo>
                  <a:lnTo>
                    <a:pt x="350647" y="109474"/>
                  </a:lnTo>
                  <a:lnTo>
                    <a:pt x="346201" y="104012"/>
                  </a:lnTo>
                  <a:lnTo>
                    <a:pt x="343662" y="102616"/>
                  </a:lnTo>
                  <a:close/>
                </a:path>
              </a:pathLst>
            </a:custGeom>
            <a:solidFill>
              <a:srgbClr val="D4E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56959" y="4016629"/>
              <a:ext cx="667766" cy="16484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03846" y="4014978"/>
              <a:ext cx="2040889" cy="161925"/>
            </a:xfrm>
            <a:custGeom>
              <a:avLst/>
              <a:gdLst/>
              <a:ahLst/>
              <a:cxnLst/>
              <a:rect l="l" t="t" r="r" b="b"/>
              <a:pathLst>
                <a:path w="2040890" h="161925">
                  <a:moveTo>
                    <a:pt x="93345" y="130302"/>
                  </a:moveTo>
                  <a:lnTo>
                    <a:pt x="84404" y="103632"/>
                  </a:lnTo>
                  <a:lnTo>
                    <a:pt x="80149" y="90932"/>
                  </a:lnTo>
                  <a:lnTo>
                    <a:pt x="63754" y="41986"/>
                  </a:lnTo>
                  <a:lnTo>
                    <a:pt x="63754" y="90932"/>
                  </a:lnTo>
                  <a:lnTo>
                    <a:pt x="29972" y="90932"/>
                  </a:lnTo>
                  <a:lnTo>
                    <a:pt x="47625" y="35306"/>
                  </a:lnTo>
                  <a:lnTo>
                    <a:pt x="63754" y="90932"/>
                  </a:lnTo>
                  <a:lnTo>
                    <a:pt x="63754" y="41986"/>
                  </a:lnTo>
                  <a:lnTo>
                    <a:pt x="61518" y="35306"/>
                  </a:lnTo>
                  <a:lnTo>
                    <a:pt x="50419" y="2159"/>
                  </a:lnTo>
                  <a:lnTo>
                    <a:pt x="46228" y="2159"/>
                  </a:lnTo>
                  <a:lnTo>
                    <a:pt x="0" y="130302"/>
                  </a:lnTo>
                  <a:lnTo>
                    <a:pt x="17399" y="130302"/>
                  </a:lnTo>
                  <a:lnTo>
                    <a:pt x="25908" y="103632"/>
                  </a:lnTo>
                  <a:lnTo>
                    <a:pt x="68199" y="103632"/>
                  </a:lnTo>
                  <a:lnTo>
                    <a:pt x="76073" y="130302"/>
                  </a:lnTo>
                  <a:lnTo>
                    <a:pt x="93345" y="130302"/>
                  </a:lnTo>
                  <a:close/>
                </a:path>
                <a:path w="2040890" h="161925">
                  <a:moveTo>
                    <a:pt x="215773" y="58293"/>
                  </a:moveTo>
                  <a:lnTo>
                    <a:pt x="213487" y="50292"/>
                  </a:lnTo>
                  <a:lnTo>
                    <a:pt x="213169" y="49911"/>
                  </a:lnTo>
                  <a:lnTo>
                    <a:pt x="212013" y="48514"/>
                  </a:lnTo>
                  <a:lnTo>
                    <a:pt x="208788" y="44577"/>
                  </a:lnTo>
                  <a:lnTo>
                    <a:pt x="204089" y="38989"/>
                  </a:lnTo>
                  <a:lnTo>
                    <a:pt x="197358" y="36068"/>
                  </a:lnTo>
                  <a:lnTo>
                    <a:pt x="184023" y="36068"/>
                  </a:lnTo>
                  <a:lnTo>
                    <a:pt x="165608" y="48514"/>
                  </a:lnTo>
                  <a:lnTo>
                    <a:pt x="161391" y="43091"/>
                  </a:lnTo>
                  <a:lnTo>
                    <a:pt x="155803" y="39204"/>
                  </a:lnTo>
                  <a:lnTo>
                    <a:pt x="148869" y="36855"/>
                  </a:lnTo>
                  <a:lnTo>
                    <a:pt x="140589" y="36068"/>
                  </a:lnTo>
                  <a:lnTo>
                    <a:pt x="132080" y="36068"/>
                  </a:lnTo>
                  <a:lnTo>
                    <a:pt x="124968" y="40259"/>
                  </a:lnTo>
                  <a:lnTo>
                    <a:pt x="119253" y="48514"/>
                  </a:lnTo>
                  <a:lnTo>
                    <a:pt x="114300" y="37846"/>
                  </a:lnTo>
                  <a:lnTo>
                    <a:pt x="104775" y="37846"/>
                  </a:lnTo>
                  <a:lnTo>
                    <a:pt x="104775" y="130302"/>
                  </a:lnTo>
                  <a:lnTo>
                    <a:pt x="119507" y="130302"/>
                  </a:lnTo>
                  <a:lnTo>
                    <a:pt x="119507" y="62103"/>
                  </a:lnTo>
                  <a:lnTo>
                    <a:pt x="120904" y="59055"/>
                  </a:lnTo>
                  <a:lnTo>
                    <a:pt x="123190" y="56261"/>
                  </a:lnTo>
                  <a:lnTo>
                    <a:pt x="126619" y="53721"/>
                  </a:lnTo>
                  <a:lnTo>
                    <a:pt x="129755" y="51308"/>
                  </a:lnTo>
                  <a:lnTo>
                    <a:pt x="129603" y="51308"/>
                  </a:lnTo>
                  <a:lnTo>
                    <a:pt x="133096" y="49911"/>
                  </a:lnTo>
                  <a:lnTo>
                    <a:pt x="141097" y="49911"/>
                  </a:lnTo>
                  <a:lnTo>
                    <a:pt x="145161" y="51308"/>
                  </a:lnTo>
                  <a:lnTo>
                    <a:pt x="151384" y="56515"/>
                  </a:lnTo>
                  <a:lnTo>
                    <a:pt x="152908" y="60071"/>
                  </a:lnTo>
                  <a:lnTo>
                    <a:pt x="152908" y="130302"/>
                  </a:lnTo>
                  <a:lnTo>
                    <a:pt x="167640" y="130302"/>
                  </a:lnTo>
                  <a:lnTo>
                    <a:pt x="167640" y="62103"/>
                  </a:lnTo>
                  <a:lnTo>
                    <a:pt x="168313" y="60071"/>
                  </a:lnTo>
                  <a:lnTo>
                    <a:pt x="176987" y="51308"/>
                  </a:lnTo>
                  <a:lnTo>
                    <a:pt x="176822" y="51308"/>
                  </a:lnTo>
                  <a:lnTo>
                    <a:pt x="180467" y="49911"/>
                  </a:lnTo>
                  <a:lnTo>
                    <a:pt x="184023" y="49911"/>
                  </a:lnTo>
                  <a:lnTo>
                    <a:pt x="201041" y="71755"/>
                  </a:lnTo>
                  <a:lnTo>
                    <a:pt x="201041" y="130302"/>
                  </a:lnTo>
                  <a:lnTo>
                    <a:pt x="215773" y="130302"/>
                  </a:lnTo>
                  <a:lnTo>
                    <a:pt x="215773" y="58293"/>
                  </a:lnTo>
                  <a:close/>
                </a:path>
                <a:path w="2040890" h="161925">
                  <a:moveTo>
                    <a:pt x="305689" y="83820"/>
                  </a:moveTo>
                  <a:lnTo>
                    <a:pt x="296252" y="49530"/>
                  </a:lnTo>
                  <a:lnTo>
                    <a:pt x="295783" y="48768"/>
                  </a:lnTo>
                  <a:lnTo>
                    <a:pt x="290322" y="43256"/>
                  </a:lnTo>
                  <a:lnTo>
                    <a:pt x="290068" y="43103"/>
                  </a:lnTo>
                  <a:lnTo>
                    <a:pt x="290068" y="83820"/>
                  </a:lnTo>
                  <a:lnTo>
                    <a:pt x="289699" y="91490"/>
                  </a:lnTo>
                  <a:lnTo>
                    <a:pt x="274955" y="118618"/>
                  </a:lnTo>
                  <a:lnTo>
                    <a:pt x="267970" y="118618"/>
                  </a:lnTo>
                  <a:lnTo>
                    <a:pt x="258292" y="116459"/>
                  </a:lnTo>
                  <a:lnTo>
                    <a:pt x="251396" y="109943"/>
                  </a:lnTo>
                  <a:lnTo>
                    <a:pt x="247243" y="99072"/>
                  </a:lnTo>
                  <a:lnTo>
                    <a:pt x="245872" y="83820"/>
                  </a:lnTo>
                  <a:lnTo>
                    <a:pt x="246253" y="76250"/>
                  </a:lnTo>
                  <a:lnTo>
                    <a:pt x="261239" y="49530"/>
                  </a:lnTo>
                  <a:lnTo>
                    <a:pt x="267970" y="49530"/>
                  </a:lnTo>
                  <a:lnTo>
                    <a:pt x="277634" y="51676"/>
                  </a:lnTo>
                  <a:lnTo>
                    <a:pt x="284543" y="58102"/>
                  </a:lnTo>
                  <a:lnTo>
                    <a:pt x="288683" y="68821"/>
                  </a:lnTo>
                  <a:lnTo>
                    <a:pt x="290068" y="83820"/>
                  </a:lnTo>
                  <a:lnTo>
                    <a:pt x="290068" y="43103"/>
                  </a:lnTo>
                  <a:lnTo>
                    <a:pt x="284048" y="39395"/>
                  </a:lnTo>
                  <a:lnTo>
                    <a:pt x="284213" y="39395"/>
                  </a:lnTo>
                  <a:lnTo>
                    <a:pt x="276491" y="36906"/>
                  </a:lnTo>
                  <a:lnTo>
                    <a:pt x="276682" y="36906"/>
                  </a:lnTo>
                  <a:lnTo>
                    <a:pt x="267970" y="36068"/>
                  </a:lnTo>
                  <a:lnTo>
                    <a:pt x="259969" y="36906"/>
                  </a:lnTo>
                  <a:lnTo>
                    <a:pt x="232943" y="64503"/>
                  </a:lnTo>
                  <a:lnTo>
                    <a:pt x="231101" y="73253"/>
                  </a:lnTo>
                  <a:lnTo>
                    <a:pt x="231013" y="73660"/>
                  </a:lnTo>
                  <a:lnTo>
                    <a:pt x="230378" y="83820"/>
                  </a:lnTo>
                  <a:lnTo>
                    <a:pt x="230822" y="91490"/>
                  </a:lnTo>
                  <a:lnTo>
                    <a:pt x="231013" y="94449"/>
                  </a:lnTo>
                  <a:lnTo>
                    <a:pt x="252361" y="128841"/>
                  </a:lnTo>
                  <a:lnTo>
                    <a:pt x="259638" y="131279"/>
                  </a:lnTo>
                  <a:lnTo>
                    <a:pt x="259778" y="131279"/>
                  </a:lnTo>
                  <a:lnTo>
                    <a:pt x="267970" y="132080"/>
                  </a:lnTo>
                  <a:lnTo>
                    <a:pt x="295846" y="118618"/>
                  </a:lnTo>
                  <a:lnTo>
                    <a:pt x="299948" y="112077"/>
                  </a:lnTo>
                  <a:lnTo>
                    <a:pt x="303123" y="103860"/>
                  </a:lnTo>
                  <a:lnTo>
                    <a:pt x="305041" y="94449"/>
                  </a:lnTo>
                  <a:lnTo>
                    <a:pt x="305689" y="83820"/>
                  </a:lnTo>
                  <a:close/>
                </a:path>
                <a:path w="2040890" h="161925">
                  <a:moveTo>
                    <a:pt x="387985" y="37846"/>
                  </a:moveTo>
                  <a:lnTo>
                    <a:pt x="373126" y="37846"/>
                  </a:lnTo>
                  <a:lnTo>
                    <a:pt x="373126" y="102743"/>
                  </a:lnTo>
                  <a:lnTo>
                    <a:pt x="371856" y="106807"/>
                  </a:lnTo>
                  <a:lnTo>
                    <a:pt x="369189" y="110490"/>
                  </a:lnTo>
                  <a:lnTo>
                    <a:pt x="365125" y="113538"/>
                  </a:lnTo>
                  <a:lnTo>
                    <a:pt x="361188" y="116713"/>
                  </a:lnTo>
                  <a:lnTo>
                    <a:pt x="356743" y="118237"/>
                  </a:lnTo>
                  <a:lnTo>
                    <a:pt x="351790" y="118237"/>
                  </a:lnTo>
                  <a:lnTo>
                    <a:pt x="344525" y="116903"/>
                  </a:lnTo>
                  <a:lnTo>
                    <a:pt x="339318" y="112890"/>
                  </a:lnTo>
                  <a:lnTo>
                    <a:pt x="336194" y="106184"/>
                  </a:lnTo>
                  <a:lnTo>
                    <a:pt x="335153" y="96774"/>
                  </a:lnTo>
                  <a:lnTo>
                    <a:pt x="335153" y="37846"/>
                  </a:lnTo>
                  <a:lnTo>
                    <a:pt x="320294" y="37846"/>
                  </a:lnTo>
                  <a:lnTo>
                    <a:pt x="320294" y="98552"/>
                  </a:lnTo>
                  <a:lnTo>
                    <a:pt x="320776" y="106184"/>
                  </a:lnTo>
                  <a:lnTo>
                    <a:pt x="322160" y="112750"/>
                  </a:lnTo>
                  <a:lnTo>
                    <a:pt x="324370" y="118237"/>
                  </a:lnTo>
                  <a:lnTo>
                    <a:pt x="324472" y="118491"/>
                  </a:lnTo>
                  <a:lnTo>
                    <a:pt x="327660" y="123317"/>
                  </a:lnTo>
                  <a:lnTo>
                    <a:pt x="332486" y="129159"/>
                  </a:lnTo>
                  <a:lnTo>
                    <a:pt x="339471" y="132080"/>
                  </a:lnTo>
                  <a:lnTo>
                    <a:pt x="353314" y="132080"/>
                  </a:lnTo>
                  <a:lnTo>
                    <a:pt x="372668" y="118491"/>
                  </a:lnTo>
                  <a:lnTo>
                    <a:pt x="372783" y="118237"/>
                  </a:lnTo>
                  <a:lnTo>
                    <a:pt x="373126" y="117475"/>
                  </a:lnTo>
                  <a:lnTo>
                    <a:pt x="373126" y="130302"/>
                  </a:lnTo>
                  <a:lnTo>
                    <a:pt x="387985" y="130302"/>
                  </a:lnTo>
                  <a:lnTo>
                    <a:pt x="387985" y="117475"/>
                  </a:lnTo>
                  <a:lnTo>
                    <a:pt x="387985" y="37846"/>
                  </a:lnTo>
                  <a:close/>
                </a:path>
                <a:path w="2040890" h="161925">
                  <a:moveTo>
                    <a:pt x="475488" y="73025"/>
                  </a:moveTo>
                  <a:lnTo>
                    <a:pt x="473773" y="56857"/>
                  </a:lnTo>
                  <a:lnTo>
                    <a:pt x="468642" y="45313"/>
                  </a:lnTo>
                  <a:lnTo>
                    <a:pt x="460108" y="38379"/>
                  </a:lnTo>
                  <a:lnTo>
                    <a:pt x="448183" y="36068"/>
                  </a:lnTo>
                  <a:lnTo>
                    <a:pt x="440461" y="36931"/>
                  </a:lnTo>
                  <a:lnTo>
                    <a:pt x="433908" y="39497"/>
                  </a:lnTo>
                  <a:lnTo>
                    <a:pt x="428510" y="43789"/>
                  </a:lnTo>
                  <a:lnTo>
                    <a:pt x="424294" y="49784"/>
                  </a:lnTo>
                  <a:lnTo>
                    <a:pt x="419608" y="37846"/>
                  </a:lnTo>
                  <a:lnTo>
                    <a:pt x="409575" y="37846"/>
                  </a:lnTo>
                  <a:lnTo>
                    <a:pt x="409575" y="130302"/>
                  </a:lnTo>
                  <a:lnTo>
                    <a:pt x="424307" y="130302"/>
                  </a:lnTo>
                  <a:lnTo>
                    <a:pt x="424307" y="61595"/>
                  </a:lnTo>
                  <a:lnTo>
                    <a:pt x="426212" y="58293"/>
                  </a:lnTo>
                  <a:lnTo>
                    <a:pt x="429133" y="55499"/>
                  </a:lnTo>
                  <a:lnTo>
                    <a:pt x="432689" y="53340"/>
                  </a:lnTo>
                  <a:lnTo>
                    <a:pt x="436372" y="51054"/>
                  </a:lnTo>
                  <a:lnTo>
                    <a:pt x="439928" y="49911"/>
                  </a:lnTo>
                  <a:lnTo>
                    <a:pt x="449580" y="49911"/>
                  </a:lnTo>
                  <a:lnTo>
                    <a:pt x="454025" y="51943"/>
                  </a:lnTo>
                  <a:lnTo>
                    <a:pt x="459359" y="59817"/>
                  </a:lnTo>
                  <a:lnTo>
                    <a:pt x="460756" y="66675"/>
                  </a:lnTo>
                  <a:lnTo>
                    <a:pt x="460756" y="130302"/>
                  </a:lnTo>
                  <a:lnTo>
                    <a:pt x="475488" y="130302"/>
                  </a:lnTo>
                  <a:lnTo>
                    <a:pt x="475488" y="73025"/>
                  </a:lnTo>
                  <a:close/>
                </a:path>
                <a:path w="2040890" h="161925">
                  <a:moveTo>
                    <a:pt x="546735" y="129413"/>
                  </a:moveTo>
                  <a:lnTo>
                    <a:pt x="545084" y="118491"/>
                  </a:lnTo>
                  <a:lnTo>
                    <a:pt x="545045" y="118237"/>
                  </a:lnTo>
                  <a:lnTo>
                    <a:pt x="544576" y="115062"/>
                  </a:lnTo>
                  <a:lnTo>
                    <a:pt x="540512" y="117094"/>
                  </a:lnTo>
                  <a:lnTo>
                    <a:pt x="536702" y="118237"/>
                  </a:lnTo>
                  <a:lnTo>
                    <a:pt x="527685" y="118237"/>
                  </a:lnTo>
                  <a:lnTo>
                    <a:pt x="523875" y="116586"/>
                  </a:lnTo>
                  <a:lnTo>
                    <a:pt x="521462" y="113284"/>
                  </a:lnTo>
                  <a:lnTo>
                    <a:pt x="519176" y="109982"/>
                  </a:lnTo>
                  <a:lnTo>
                    <a:pt x="517906" y="104521"/>
                  </a:lnTo>
                  <a:lnTo>
                    <a:pt x="517906" y="50800"/>
                  </a:lnTo>
                  <a:lnTo>
                    <a:pt x="540766" y="50800"/>
                  </a:lnTo>
                  <a:lnTo>
                    <a:pt x="540766" y="37846"/>
                  </a:lnTo>
                  <a:lnTo>
                    <a:pt x="517906" y="37846"/>
                  </a:lnTo>
                  <a:lnTo>
                    <a:pt x="517906" y="12192"/>
                  </a:lnTo>
                  <a:lnTo>
                    <a:pt x="503174" y="18542"/>
                  </a:lnTo>
                  <a:lnTo>
                    <a:pt x="503174" y="37846"/>
                  </a:lnTo>
                  <a:lnTo>
                    <a:pt x="493522" y="37846"/>
                  </a:lnTo>
                  <a:lnTo>
                    <a:pt x="493522" y="50800"/>
                  </a:lnTo>
                  <a:lnTo>
                    <a:pt x="503174" y="50800"/>
                  </a:lnTo>
                  <a:lnTo>
                    <a:pt x="503174" y="111633"/>
                  </a:lnTo>
                  <a:lnTo>
                    <a:pt x="505371" y="118237"/>
                  </a:lnTo>
                  <a:lnTo>
                    <a:pt x="505460" y="118491"/>
                  </a:lnTo>
                  <a:lnTo>
                    <a:pt x="510032" y="123825"/>
                  </a:lnTo>
                  <a:lnTo>
                    <a:pt x="514477" y="129286"/>
                  </a:lnTo>
                  <a:lnTo>
                    <a:pt x="520065" y="132080"/>
                  </a:lnTo>
                  <a:lnTo>
                    <a:pt x="533908" y="132080"/>
                  </a:lnTo>
                  <a:lnTo>
                    <a:pt x="540639" y="131191"/>
                  </a:lnTo>
                  <a:lnTo>
                    <a:pt x="546735" y="129413"/>
                  </a:lnTo>
                  <a:close/>
                </a:path>
                <a:path w="2040890" h="161925">
                  <a:moveTo>
                    <a:pt x="588391" y="116459"/>
                  </a:moveTo>
                  <a:lnTo>
                    <a:pt x="587248" y="113284"/>
                  </a:lnTo>
                  <a:lnTo>
                    <a:pt x="582803" y="107823"/>
                  </a:lnTo>
                  <a:lnTo>
                    <a:pt x="580263" y="106426"/>
                  </a:lnTo>
                  <a:lnTo>
                    <a:pt x="574167" y="106426"/>
                  </a:lnTo>
                  <a:lnTo>
                    <a:pt x="571500" y="107442"/>
                  </a:lnTo>
                  <a:lnTo>
                    <a:pt x="569341" y="109347"/>
                  </a:lnTo>
                  <a:lnTo>
                    <a:pt x="567182" y="111379"/>
                  </a:lnTo>
                  <a:lnTo>
                    <a:pt x="566166" y="113919"/>
                  </a:lnTo>
                  <a:lnTo>
                    <a:pt x="566166" y="121412"/>
                  </a:lnTo>
                  <a:lnTo>
                    <a:pt x="568452" y="124714"/>
                  </a:lnTo>
                  <a:lnTo>
                    <a:pt x="572897" y="127127"/>
                  </a:lnTo>
                  <a:lnTo>
                    <a:pt x="574421" y="129667"/>
                  </a:lnTo>
                  <a:lnTo>
                    <a:pt x="575183" y="132207"/>
                  </a:lnTo>
                  <a:lnTo>
                    <a:pt x="575183" y="140462"/>
                  </a:lnTo>
                  <a:lnTo>
                    <a:pt x="570738" y="147320"/>
                  </a:lnTo>
                  <a:lnTo>
                    <a:pt x="561848" y="155448"/>
                  </a:lnTo>
                  <a:lnTo>
                    <a:pt x="565785" y="161671"/>
                  </a:lnTo>
                  <a:lnTo>
                    <a:pt x="588391" y="127889"/>
                  </a:lnTo>
                  <a:lnTo>
                    <a:pt x="588391" y="116459"/>
                  </a:lnTo>
                  <a:close/>
                </a:path>
                <a:path w="2040890" h="161925">
                  <a:moveTo>
                    <a:pt x="737489" y="98425"/>
                  </a:moveTo>
                  <a:lnTo>
                    <a:pt x="701167" y="53975"/>
                  </a:lnTo>
                  <a:lnTo>
                    <a:pt x="697103" y="51435"/>
                  </a:lnTo>
                  <a:lnTo>
                    <a:pt x="688975" y="37465"/>
                  </a:lnTo>
                  <a:lnTo>
                    <a:pt x="688975" y="28956"/>
                  </a:lnTo>
                  <a:lnTo>
                    <a:pt x="700786" y="16383"/>
                  </a:lnTo>
                  <a:lnTo>
                    <a:pt x="709676" y="16383"/>
                  </a:lnTo>
                  <a:lnTo>
                    <a:pt x="714260" y="17272"/>
                  </a:lnTo>
                  <a:lnTo>
                    <a:pt x="713955" y="17272"/>
                  </a:lnTo>
                  <a:lnTo>
                    <a:pt x="717804" y="18669"/>
                  </a:lnTo>
                  <a:lnTo>
                    <a:pt x="722122" y="20193"/>
                  </a:lnTo>
                  <a:lnTo>
                    <a:pt x="725297" y="21844"/>
                  </a:lnTo>
                  <a:lnTo>
                    <a:pt x="727329" y="23495"/>
                  </a:lnTo>
                  <a:lnTo>
                    <a:pt x="729488" y="16383"/>
                  </a:lnTo>
                  <a:lnTo>
                    <a:pt x="705612" y="1651"/>
                  </a:lnTo>
                  <a:lnTo>
                    <a:pt x="696214" y="1651"/>
                  </a:lnTo>
                  <a:lnTo>
                    <a:pt x="688467" y="4826"/>
                  </a:lnTo>
                  <a:lnTo>
                    <a:pt x="676529" y="17272"/>
                  </a:lnTo>
                  <a:lnTo>
                    <a:pt x="673569" y="24765"/>
                  </a:lnTo>
                  <a:lnTo>
                    <a:pt x="673481" y="42291"/>
                  </a:lnTo>
                  <a:lnTo>
                    <a:pt x="675005" y="48895"/>
                  </a:lnTo>
                  <a:lnTo>
                    <a:pt x="678053" y="54483"/>
                  </a:lnTo>
                  <a:lnTo>
                    <a:pt x="681228" y="59944"/>
                  </a:lnTo>
                  <a:lnTo>
                    <a:pt x="686562" y="64770"/>
                  </a:lnTo>
                  <a:lnTo>
                    <a:pt x="694309" y="68707"/>
                  </a:lnTo>
                  <a:lnTo>
                    <a:pt x="711835" y="77851"/>
                  </a:lnTo>
                  <a:lnTo>
                    <a:pt x="716915" y="81788"/>
                  </a:lnTo>
                  <a:lnTo>
                    <a:pt x="720979" y="89154"/>
                  </a:lnTo>
                  <a:lnTo>
                    <a:pt x="721995" y="93091"/>
                  </a:lnTo>
                  <a:lnTo>
                    <a:pt x="721995" y="102997"/>
                  </a:lnTo>
                  <a:lnTo>
                    <a:pt x="720217" y="107696"/>
                  </a:lnTo>
                  <a:lnTo>
                    <a:pt x="712851" y="115062"/>
                  </a:lnTo>
                  <a:lnTo>
                    <a:pt x="708025" y="116967"/>
                  </a:lnTo>
                  <a:lnTo>
                    <a:pt x="698500" y="116967"/>
                  </a:lnTo>
                  <a:lnTo>
                    <a:pt x="679450" y="108585"/>
                  </a:lnTo>
                  <a:lnTo>
                    <a:pt x="673735" y="124460"/>
                  </a:lnTo>
                  <a:lnTo>
                    <a:pt x="679424" y="127965"/>
                  </a:lnTo>
                  <a:lnTo>
                    <a:pt x="685634" y="130467"/>
                  </a:lnTo>
                  <a:lnTo>
                    <a:pt x="692378" y="131965"/>
                  </a:lnTo>
                  <a:lnTo>
                    <a:pt x="699643" y="132461"/>
                  </a:lnTo>
                  <a:lnTo>
                    <a:pt x="706272" y="131965"/>
                  </a:lnTo>
                  <a:lnTo>
                    <a:pt x="707390" y="131965"/>
                  </a:lnTo>
                  <a:lnTo>
                    <a:pt x="731888" y="116967"/>
                  </a:lnTo>
                  <a:lnTo>
                    <a:pt x="734910" y="111544"/>
                  </a:lnTo>
                  <a:lnTo>
                    <a:pt x="736841" y="105232"/>
                  </a:lnTo>
                  <a:lnTo>
                    <a:pt x="737489" y="98425"/>
                  </a:lnTo>
                  <a:close/>
                </a:path>
                <a:path w="2040890" h="161925">
                  <a:moveTo>
                    <a:pt x="825246" y="79248"/>
                  </a:moveTo>
                  <a:lnTo>
                    <a:pt x="825131" y="74295"/>
                  </a:lnTo>
                  <a:lnTo>
                    <a:pt x="825093" y="73787"/>
                  </a:lnTo>
                  <a:lnTo>
                    <a:pt x="824623" y="67271"/>
                  </a:lnTo>
                  <a:lnTo>
                    <a:pt x="822769" y="59715"/>
                  </a:lnTo>
                  <a:lnTo>
                    <a:pt x="819670" y="53035"/>
                  </a:lnTo>
                  <a:lnTo>
                    <a:pt x="817333" y="49911"/>
                  </a:lnTo>
                  <a:lnTo>
                    <a:pt x="815340" y="47244"/>
                  </a:lnTo>
                  <a:lnTo>
                    <a:pt x="810514" y="43014"/>
                  </a:lnTo>
                  <a:lnTo>
                    <a:pt x="810514" y="73787"/>
                  </a:lnTo>
                  <a:lnTo>
                    <a:pt x="764413" y="73787"/>
                  </a:lnTo>
                  <a:lnTo>
                    <a:pt x="781685" y="49911"/>
                  </a:lnTo>
                  <a:lnTo>
                    <a:pt x="795274" y="49911"/>
                  </a:lnTo>
                  <a:lnTo>
                    <a:pt x="800862" y="52324"/>
                  </a:lnTo>
                  <a:lnTo>
                    <a:pt x="804926" y="57150"/>
                  </a:lnTo>
                  <a:lnTo>
                    <a:pt x="808494" y="61468"/>
                  </a:lnTo>
                  <a:lnTo>
                    <a:pt x="808609" y="61595"/>
                  </a:lnTo>
                  <a:lnTo>
                    <a:pt x="810463" y="67056"/>
                  </a:lnTo>
                  <a:lnTo>
                    <a:pt x="810514" y="73787"/>
                  </a:lnTo>
                  <a:lnTo>
                    <a:pt x="810514" y="43014"/>
                  </a:lnTo>
                  <a:lnTo>
                    <a:pt x="809815" y="42392"/>
                  </a:lnTo>
                  <a:lnTo>
                    <a:pt x="803338" y="38900"/>
                  </a:lnTo>
                  <a:lnTo>
                    <a:pt x="796163" y="36855"/>
                  </a:lnTo>
                  <a:lnTo>
                    <a:pt x="796772" y="36855"/>
                  </a:lnTo>
                  <a:lnTo>
                    <a:pt x="787527" y="36068"/>
                  </a:lnTo>
                  <a:lnTo>
                    <a:pt x="780135" y="36855"/>
                  </a:lnTo>
                  <a:lnTo>
                    <a:pt x="773252" y="39204"/>
                  </a:lnTo>
                  <a:lnTo>
                    <a:pt x="749439" y="73787"/>
                  </a:lnTo>
                  <a:lnTo>
                    <a:pt x="749312" y="74295"/>
                  </a:lnTo>
                  <a:lnTo>
                    <a:pt x="748538" y="85217"/>
                  </a:lnTo>
                  <a:lnTo>
                    <a:pt x="749287" y="95631"/>
                  </a:lnTo>
                  <a:lnTo>
                    <a:pt x="751586" y="104927"/>
                  </a:lnTo>
                  <a:lnTo>
                    <a:pt x="779792" y="131343"/>
                  </a:lnTo>
                  <a:lnTo>
                    <a:pt x="787400" y="132080"/>
                  </a:lnTo>
                  <a:lnTo>
                    <a:pt x="794639" y="132080"/>
                  </a:lnTo>
                  <a:lnTo>
                    <a:pt x="801243" y="130810"/>
                  </a:lnTo>
                  <a:lnTo>
                    <a:pt x="807085" y="128397"/>
                  </a:lnTo>
                  <a:lnTo>
                    <a:pt x="811784" y="126619"/>
                  </a:lnTo>
                  <a:lnTo>
                    <a:pt x="815340" y="124333"/>
                  </a:lnTo>
                  <a:lnTo>
                    <a:pt x="817626" y="121793"/>
                  </a:lnTo>
                  <a:lnTo>
                    <a:pt x="815746" y="118237"/>
                  </a:lnTo>
                  <a:lnTo>
                    <a:pt x="811403" y="109982"/>
                  </a:lnTo>
                  <a:lnTo>
                    <a:pt x="805688" y="115443"/>
                  </a:lnTo>
                  <a:lnTo>
                    <a:pt x="798703" y="118237"/>
                  </a:lnTo>
                  <a:lnTo>
                    <a:pt x="782828" y="118237"/>
                  </a:lnTo>
                  <a:lnTo>
                    <a:pt x="764032" y="85725"/>
                  </a:lnTo>
                  <a:lnTo>
                    <a:pt x="823976" y="85725"/>
                  </a:lnTo>
                  <a:lnTo>
                    <a:pt x="824738" y="82677"/>
                  </a:lnTo>
                  <a:lnTo>
                    <a:pt x="825246" y="79248"/>
                  </a:lnTo>
                  <a:close/>
                </a:path>
                <a:path w="2040890" h="161925">
                  <a:moveTo>
                    <a:pt x="906145" y="123698"/>
                  </a:moveTo>
                  <a:lnTo>
                    <a:pt x="901827" y="121031"/>
                  </a:lnTo>
                  <a:lnTo>
                    <a:pt x="901268" y="119634"/>
                  </a:lnTo>
                  <a:lnTo>
                    <a:pt x="901065" y="119126"/>
                  </a:lnTo>
                  <a:lnTo>
                    <a:pt x="899668" y="115570"/>
                  </a:lnTo>
                  <a:lnTo>
                    <a:pt x="899668" y="83185"/>
                  </a:lnTo>
                  <a:lnTo>
                    <a:pt x="899591" y="73279"/>
                  </a:lnTo>
                  <a:lnTo>
                    <a:pt x="880732" y="38379"/>
                  </a:lnTo>
                  <a:lnTo>
                    <a:pt x="865124" y="36068"/>
                  </a:lnTo>
                  <a:lnTo>
                    <a:pt x="860679" y="36068"/>
                  </a:lnTo>
                  <a:lnTo>
                    <a:pt x="855980" y="37084"/>
                  </a:lnTo>
                  <a:lnTo>
                    <a:pt x="846074" y="40640"/>
                  </a:lnTo>
                  <a:lnTo>
                    <a:pt x="842137" y="42799"/>
                  </a:lnTo>
                  <a:lnTo>
                    <a:pt x="839343" y="45339"/>
                  </a:lnTo>
                  <a:lnTo>
                    <a:pt x="845566" y="59055"/>
                  </a:lnTo>
                  <a:lnTo>
                    <a:pt x="850519" y="53594"/>
                  </a:lnTo>
                  <a:lnTo>
                    <a:pt x="857631" y="50800"/>
                  </a:lnTo>
                  <a:lnTo>
                    <a:pt x="866902" y="50800"/>
                  </a:lnTo>
                  <a:lnTo>
                    <a:pt x="874750" y="52209"/>
                  </a:lnTo>
                  <a:lnTo>
                    <a:pt x="880389" y="56426"/>
                  </a:lnTo>
                  <a:lnTo>
                    <a:pt x="883793" y="63449"/>
                  </a:lnTo>
                  <a:lnTo>
                    <a:pt x="884936" y="73279"/>
                  </a:lnTo>
                  <a:lnTo>
                    <a:pt x="884936" y="84836"/>
                  </a:lnTo>
                  <a:lnTo>
                    <a:pt x="884936" y="107315"/>
                  </a:lnTo>
                  <a:lnTo>
                    <a:pt x="879094" y="115189"/>
                  </a:lnTo>
                  <a:lnTo>
                    <a:pt x="872490" y="119126"/>
                  </a:lnTo>
                  <a:lnTo>
                    <a:pt x="854837" y="119126"/>
                  </a:lnTo>
                  <a:lnTo>
                    <a:pt x="849757" y="114300"/>
                  </a:lnTo>
                  <a:lnTo>
                    <a:pt x="849757" y="98806"/>
                  </a:lnTo>
                  <a:lnTo>
                    <a:pt x="852170" y="93853"/>
                  </a:lnTo>
                  <a:lnTo>
                    <a:pt x="856869" y="89535"/>
                  </a:lnTo>
                  <a:lnTo>
                    <a:pt x="861568" y="85344"/>
                  </a:lnTo>
                  <a:lnTo>
                    <a:pt x="867664" y="83185"/>
                  </a:lnTo>
                  <a:lnTo>
                    <a:pt x="876935" y="83185"/>
                  </a:lnTo>
                  <a:lnTo>
                    <a:pt x="880237" y="83693"/>
                  </a:lnTo>
                  <a:lnTo>
                    <a:pt x="884936" y="84836"/>
                  </a:lnTo>
                  <a:lnTo>
                    <a:pt x="884936" y="73279"/>
                  </a:lnTo>
                  <a:lnTo>
                    <a:pt x="880999" y="71755"/>
                  </a:lnTo>
                  <a:lnTo>
                    <a:pt x="877443" y="70993"/>
                  </a:lnTo>
                  <a:lnTo>
                    <a:pt x="874268" y="70993"/>
                  </a:lnTo>
                  <a:lnTo>
                    <a:pt x="837780" y="91503"/>
                  </a:lnTo>
                  <a:lnTo>
                    <a:pt x="835025" y="104521"/>
                  </a:lnTo>
                  <a:lnTo>
                    <a:pt x="835025" y="112268"/>
                  </a:lnTo>
                  <a:lnTo>
                    <a:pt x="837438" y="118872"/>
                  </a:lnTo>
                  <a:lnTo>
                    <a:pt x="842264" y="124079"/>
                  </a:lnTo>
                  <a:lnTo>
                    <a:pt x="846963" y="129413"/>
                  </a:lnTo>
                  <a:lnTo>
                    <a:pt x="852678" y="132080"/>
                  </a:lnTo>
                  <a:lnTo>
                    <a:pt x="859155" y="132080"/>
                  </a:lnTo>
                  <a:lnTo>
                    <a:pt x="886333" y="119634"/>
                  </a:lnTo>
                  <a:lnTo>
                    <a:pt x="887488" y="123698"/>
                  </a:lnTo>
                  <a:lnTo>
                    <a:pt x="887603" y="124079"/>
                  </a:lnTo>
                  <a:lnTo>
                    <a:pt x="889762" y="127254"/>
                  </a:lnTo>
                  <a:lnTo>
                    <a:pt x="892683" y="129032"/>
                  </a:lnTo>
                  <a:lnTo>
                    <a:pt x="895731" y="130937"/>
                  </a:lnTo>
                  <a:lnTo>
                    <a:pt x="900722" y="132080"/>
                  </a:lnTo>
                  <a:lnTo>
                    <a:pt x="906145" y="132080"/>
                  </a:lnTo>
                  <a:lnTo>
                    <a:pt x="906145" y="123698"/>
                  </a:lnTo>
                  <a:close/>
                </a:path>
                <a:path w="2040890" h="161925">
                  <a:moveTo>
                    <a:pt x="970407" y="99187"/>
                  </a:moveTo>
                  <a:lnTo>
                    <a:pt x="969035" y="94107"/>
                  </a:lnTo>
                  <a:lnTo>
                    <a:pt x="969010" y="93980"/>
                  </a:lnTo>
                  <a:lnTo>
                    <a:pt x="965962" y="89789"/>
                  </a:lnTo>
                  <a:lnTo>
                    <a:pt x="963041" y="85471"/>
                  </a:lnTo>
                  <a:lnTo>
                    <a:pt x="958342" y="81788"/>
                  </a:lnTo>
                  <a:lnTo>
                    <a:pt x="935228" y="70104"/>
                  </a:lnTo>
                  <a:lnTo>
                    <a:pt x="932180" y="65659"/>
                  </a:lnTo>
                  <a:lnTo>
                    <a:pt x="932180" y="56896"/>
                  </a:lnTo>
                  <a:lnTo>
                    <a:pt x="933450" y="54483"/>
                  </a:lnTo>
                  <a:lnTo>
                    <a:pt x="935863" y="52705"/>
                  </a:lnTo>
                  <a:lnTo>
                    <a:pt x="938276" y="50800"/>
                  </a:lnTo>
                  <a:lnTo>
                    <a:pt x="941197" y="49911"/>
                  </a:lnTo>
                  <a:lnTo>
                    <a:pt x="950595" y="49911"/>
                  </a:lnTo>
                  <a:lnTo>
                    <a:pt x="956843" y="52705"/>
                  </a:lnTo>
                  <a:lnTo>
                    <a:pt x="956703" y="52705"/>
                  </a:lnTo>
                  <a:lnTo>
                    <a:pt x="962406" y="57658"/>
                  </a:lnTo>
                  <a:lnTo>
                    <a:pt x="964552" y="49911"/>
                  </a:lnTo>
                  <a:lnTo>
                    <a:pt x="966597" y="42545"/>
                  </a:lnTo>
                  <a:lnTo>
                    <a:pt x="957326" y="38227"/>
                  </a:lnTo>
                  <a:lnTo>
                    <a:pt x="949706" y="36068"/>
                  </a:lnTo>
                  <a:lnTo>
                    <a:pt x="935609" y="36068"/>
                  </a:lnTo>
                  <a:lnTo>
                    <a:pt x="929132" y="38227"/>
                  </a:lnTo>
                  <a:lnTo>
                    <a:pt x="924179" y="42545"/>
                  </a:lnTo>
                  <a:lnTo>
                    <a:pt x="919226" y="46736"/>
                  </a:lnTo>
                  <a:lnTo>
                    <a:pt x="916686" y="52705"/>
                  </a:lnTo>
                  <a:lnTo>
                    <a:pt x="916686" y="63246"/>
                  </a:lnTo>
                  <a:lnTo>
                    <a:pt x="921893" y="75819"/>
                  </a:lnTo>
                  <a:lnTo>
                    <a:pt x="923544" y="78105"/>
                  </a:lnTo>
                  <a:lnTo>
                    <a:pt x="950468" y="94107"/>
                  </a:lnTo>
                  <a:lnTo>
                    <a:pt x="954798" y="99187"/>
                  </a:lnTo>
                  <a:lnTo>
                    <a:pt x="954913" y="113919"/>
                  </a:lnTo>
                  <a:lnTo>
                    <a:pt x="950341" y="118237"/>
                  </a:lnTo>
                  <a:lnTo>
                    <a:pt x="936244" y="118237"/>
                  </a:lnTo>
                  <a:lnTo>
                    <a:pt x="929640" y="115189"/>
                  </a:lnTo>
                  <a:lnTo>
                    <a:pt x="921385" y="109220"/>
                  </a:lnTo>
                  <a:lnTo>
                    <a:pt x="916178" y="124714"/>
                  </a:lnTo>
                  <a:lnTo>
                    <a:pt x="922058" y="127965"/>
                  </a:lnTo>
                  <a:lnTo>
                    <a:pt x="928116" y="130263"/>
                  </a:lnTo>
                  <a:lnTo>
                    <a:pt x="934351" y="131635"/>
                  </a:lnTo>
                  <a:lnTo>
                    <a:pt x="940816" y="132080"/>
                  </a:lnTo>
                  <a:lnTo>
                    <a:pt x="950087" y="132080"/>
                  </a:lnTo>
                  <a:lnTo>
                    <a:pt x="957326" y="129667"/>
                  </a:lnTo>
                  <a:lnTo>
                    <a:pt x="962660" y="124968"/>
                  </a:lnTo>
                  <a:lnTo>
                    <a:pt x="967867" y="120269"/>
                  </a:lnTo>
                  <a:lnTo>
                    <a:pt x="968654" y="118237"/>
                  </a:lnTo>
                  <a:lnTo>
                    <a:pt x="970356" y="113919"/>
                  </a:lnTo>
                  <a:lnTo>
                    <a:pt x="970407" y="99187"/>
                  </a:lnTo>
                  <a:close/>
                </a:path>
                <a:path w="2040890" h="161925">
                  <a:moveTo>
                    <a:pt x="1058545" y="83820"/>
                  </a:moveTo>
                  <a:lnTo>
                    <a:pt x="1057948" y="73660"/>
                  </a:lnTo>
                  <a:lnTo>
                    <a:pt x="1057922" y="73253"/>
                  </a:lnTo>
                  <a:lnTo>
                    <a:pt x="1056182" y="64503"/>
                  </a:lnTo>
                  <a:lnTo>
                    <a:pt x="1056068" y="63868"/>
                  </a:lnTo>
                  <a:lnTo>
                    <a:pt x="1052969" y="55702"/>
                  </a:lnTo>
                  <a:lnTo>
                    <a:pt x="1049108" y="49530"/>
                  </a:lnTo>
                  <a:lnTo>
                    <a:pt x="1048639" y="48768"/>
                  </a:lnTo>
                  <a:lnTo>
                    <a:pt x="1043178" y="43256"/>
                  </a:lnTo>
                  <a:lnTo>
                    <a:pt x="1042924" y="43103"/>
                  </a:lnTo>
                  <a:lnTo>
                    <a:pt x="1042924" y="83820"/>
                  </a:lnTo>
                  <a:lnTo>
                    <a:pt x="1042555" y="91490"/>
                  </a:lnTo>
                  <a:lnTo>
                    <a:pt x="1027811" y="118618"/>
                  </a:lnTo>
                  <a:lnTo>
                    <a:pt x="1020826" y="118618"/>
                  </a:lnTo>
                  <a:lnTo>
                    <a:pt x="1011148" y="116459"/>
                  </a:lnTo>
                  <a:lnTo>
                    <a:pt x="1004252" y="109943"/>
                  </a:lnTo>
                  <a:lnTo>
                    <a:pt x="1000099" y="99072"/>
                  </a:lnTo>
                  <a:lnTo>
                    <a:pt x="998728" y="83820"/>
                  </a:lnTo>
                  <a:lnTo>
                    <a:pt x="999109" y="76250"/>
                  </a:lnTo>
                  <a:lnTo>
                    <a:pt x="1014095" y="49530"/>
                  </a:lnTo>
                  <a:lnTo>
                    <a:pt x="1020826" y="49530"/>
                  </a:lnTo>
                  <a:lnTo>
                    <a:pt x="1030490" y="51676"/>
                  </a:lnTo>
                  <a:lnTo>
                    <a:pt x="1037399" y="58102"/>
                  </a:lnTo>
                  <a:lnTo>
                    <a:pt x="1041539" y="68821"/>
                  </a:lnTo>
                  <a:lnTo>
                    <a:pt x="1042924" y="83820"/>
                  </a:lnTo>
                  <a:lnTo>
                    <a:pt x="1042924" y="43103"/>
                  </a:lnTo>
                  <a:lnTo>
                    <a:pt x="1036904" y="39395"/>
                  </a:lnTo>
                  <a:lnTo>
                    <a:pt x="1037069" y="39395"/>
                  </a:lnTo>
                  <a:lnTo>
                    <a:pt x="1029347" y="36906"/>
                  </a:lnTo>
                  <a:lnTo>
                    <a:pt x="1029538" y="36906"/>
                  </a:lnTo>
                  <a:lnTo>
                    <a:pt x="1020826" y="36068"/>
                  </a:lnTo>
                  <a:lnTo>
                    <a:pt x="1012825" y="36906"/>
                  </a:lnTo>
                  <a:lnTo>
                    <a:pt x="985799" y="64503"/>
                  </a:lnTo>
                  <a:lnTo>
                    <a:pt x="983957" y="73253"/>
                  </a:lnTo>
                  <a:lnTo>
                    <a:pt x="983869" y="73660"/>
                  </a:lnTo>
                  <a:lnTo>
                    <a:pt x="983234" y="83820"/>
                  </a:lnTo>
                  <a:lnTo>
                    <a:pt x="983678" y="91490"/>
                  </a:lnTo>
                  <a:lnTo>
                    <a:pt x="983869" y="94449"/>
                  </a:lnTo>
                  <a:lnTo>
                    <a:pt x="1005217" y="128841"/>
                  </a:lnTo>
                  <a:lnTo>
                    <a:pt x="1012494" y="131279"/>
                  </a:lnTo>
                  <a:lnTo>
                    <a:pt x="1012634" y="131279"/>
                  </a:lnTo>
                  <a:lnTo>
                    <a:pt x="1020826" y="132080"/>
                  </a:lnTo>
                  <a:lnTo>
                    <a:pt x="1048702" y="118618"/>
                  </a:lnTo>
                  <a:lnTo>
                    <a:pt x="1052804" y="112077"/>
                  </a:lnTo>
                  <a:lnTo>
                    <a:pt x="1055979" y="103860"/>
                  </a:lnTo>
                  <a:lnTo>
                    <a:pt x="1057897" y="94449"/>
                  </a:lnTo>
                  <a:lnTo>
                    <a:pt x="1058545" y="83820"/>
                  </a:lnTo>
                  <a:close/>
                </a:path>
                <a:path w="2040890" h="161925">
                  <a:moveTo>
                    <a:pt x="1139952" y="73025"/>
                  </a:moveTo>
                  <a:lnTo>
                    <a:pt x="1138237" y="56857"/>
                  </a:lnTo>
                  <a:lnTo>
                    <a:pt x="1133106" y="45313"/>
                  </a:lnTo>
                  <a:lnTo>
                    <a:pt x="1124572" y="38379"/>
                  </a:lnTo>
                  <a:lnTo>
                    <a:pt x="1112647" y="36068"/>
                  </a:lnTo>
                  <a:lnTo>
                    <a:pt x="1104925" y="36931"/>
                  </a:lnTo>
                  <a:lnTo>
                    <a:pt x="1098372" y="39497"/>
                  </a:lnTo>
                  <a:lnTo>
                    <a:pt x="1092974" y="43789"/>
                  </a:lnTo>
                  <a:lnTo>
                    <a:pt x="1088758" y="49784"/>
                  </a:lnTo>
                  <a:lnTo>
                    <a:pt x="1084072" y="37846"/>
                  </a:lnTo>
                  <a:lnTo>
                    <a:pt x="1074039" y="37846"/>
                  </a:lnTo>
                  <a:lnTo>
                    <a:pt x="1074039" y="130302"/>
                  </a:lnTo>
                  <a:lnTo>
                    <a:pt x="1088771" y="130302"/>
                  </a:lnTo>
                  <a:lnTo>
                    <a:pt x="1088771" y="61595"/>
                  </a:lnTo>
                  <a:lnTo>
                    <a:pt x="1090676" y="58293"/>
                  </a:lnTo>
                  <a:lnTo>
                    <a:pt x="1093597" y="55499"/>
                  </a:lnTo>
                  <a:lnTo>
                    <a:pt x="1097153" y="53340"/>
                  </a:lnTo>
                  <a:lnTo>
                    <a:pt x="1100836" y="51054"/>
                  </a:lnTo>
                  <a:lnTo>
                    <a:pt x="1104392" y="49911"/>
                  </a:lnTo>
                  <a:lnTo>
                    <a:pt x="1114044" y="49911"/>
                  </a:lnTo>
                  <a:lnTo>
                    <a:pt x="1118489" y="51943"/>
                  </a:lnTo>
                  <a:lnTo>
                    <a:pt x="1123823" y="59817"/>
                  </a:lnTo>
                  <a:lnTo>
                    <a:pt x="1125220" y="66675"/>
                  </a:lnTo>
                  <a:lnTo>
                    <a:pt x="1125220" y="130302"/>
                  </a:lnTo>
                  <a:lnTo>
                    <a:pt x="1139952" y="130302"/>
                  </a:lnTo>
                  <a:lnTo>
                    <a:pt x="1139952" y="73025"/>
                  </a:lnTo>
                  <a:close/>
                </a:path>
                <a:path w="2040890" h="161925">
                  <a:moveTo>
                    <a:pt x="1191895" y="116459"/>
                  </a:moveTo>
                  <a:lnTo>
                    <a:pt x="1190752" y="113284"/>
                  </a:lnTo>
                  <a:lnTo>
                    <a:pt x="1186307" y="107823"/>
                  </a:lnTo>
                  <a:lnTo>
                    <a:pt x="1183767" y="106426"/>
                  </a:lnTo>
                  <a:lnTo>
                    <a:pt x="1177671" y="106426"/>
                  </a:lnTo>
                  <a:lnTo>
                    <a:pt x="1175004" y="107442"/>
                  </a:lnTo>
                  <a:lnTo>
                    <a:pt x="1172845" y="109347"/>
                  </a:lnTo>
                  <a:lnTo>
                    <a:pt x="1170686" y="111379"/>
                  </a:lnTo>
                  <a:lnTo>
                    <a:pt x="1169670" y="113919"/>
                  </a:lnTo>
                  <a:lnTo>
                    <a:pt x="1169670" y="121412"/>
                  </a:lnTo>
                  <a:lnTo>
                    <a:pt x="1171956" y="124714"/>
                  </a:lnTo>
                  <a:lnTo>
                    <a:pt x="1176401" y="127127"/>
                  </a:lnTo>
                  <a:lnTo>
                    <a:pt x="1177925" y="129667"/>
                  </a:lnTo>
                  <a:lnTo>
                    <a:pt x="1178687" y="132207"/>
                  </a:lnTo>
                  <a:lnTo>
                    <a:pt x="1178687" y="140462"/>
                  </a:lnTo>
                  <a:lnTo>
                    <a:pt x="1174242" y="147320"/>
                  </a:lnTo>
                  <a:lnTo>
                    <a:pt x="1165352" y="155448"/>
                  </a:lnTo>
                  <a:lnTo>
                    <a:pt x="1169289" y="161671"/>
                  </a:lnTo>
                  <a:lnTo>
                    <a:pt x="1191895" y="127889"/>
                  </a:lnTo>
                  <a:lnTo>
                    <a:pt x="1191895" y="116459"/>
                  </a:lnTo>
                  <a:close/>
                </a:path>
                <a:path w="2040890" h="161925">
                  <a:moveTo>
                    <a:pt x="1337945" y="98425"/>
                  </a:moveTo>
                  <a:lnTo>
                    <a:pt x="1301496" y="53975"/>
                  </a:lnTo>
                  <a:lnTo>
                    <a:pt x="1297559" y="51435"/>
                  </a:lnTo>
                  <a:lnTo>
                    <a:pt x="1289431" y="37465"/>
                  </a:lnTo>
                  <a:lnTo>
                    <a:pt x="1289431" y="28956"/>
                  </a:lnTo>
                  <a:lnTo>
                    <a:pt x="1301242" y="16383"/>
                  </a:lnTo>
                  <a:lnTo>
                    <a:pt x="1310132" y="16383"/>
                  </a:lnTo>
                  <a:lnTo>
                    <a:pt x="1314716" y="17272"/>
                  </a:lnTo>
                  <a:lnTo>
                    <a:pt x="1314411" y="17272"/>
                  </a:lnTo>
                  <a:lnTo>
                    <a:pt x="1318260" y="18669"/>
                  </a:lnTo>
                  <a:lnTo>
                    <a:pt x="1322578" y="20193"/>
                  </a:lnTo>
                  <a:lnTo>
                    <a:pt x="1325753" y="21844"/>
                  </a:lnTo>
                  <a:lnTo>
                    <a:pt x="1327785" y="23495"/>
                  </a:lnTo>
                  <a:lnTo>
                    <a:pt x="1329944" y="16383"/>
                  </a:lnTo>
                  <a:lnTo>
                    <a:pt x="1306068" y="1651"/>
                  </a:lnTo>
                  <a:lnTo>
                    <a:pt x="1296670" y="1651"/>
                  </a:lnTo>
                  <a:lnTo>
                    <a:pt x="1288923" y="4826"/>
                  </a:lnTo>
                  <a:lnTo>
                    <a:pt x="1276985" y="17272"/>
                  </a:lnTo>
                  <a:lnTo>
                    <a:pt x="1274025" y="24765"/>
                  </a:lnTo>
                  <a:lnTo>
                    <a:pt x="1273937" y="42291"/>
                  </a:lnTo>
                  <a:lnTo>
                    <a:pt x="1275461" y="48895"/>
                  </a:lnTo>
                  <a:lnTo>
                    <a:pt x="1278509" y="54483"/>
                  </a:lnTo>
                  <a:lnTo>
                    <a:pt x="1281684" y="59944"/>
                  </a:lnTo>
                  <a:lnTo>
                    <a:pt x="1287018" y="64770"/>
                  </a:lnTo>
                  <a:lnTo>
                    <a:pt x="1294765" y="68707"/>
                  </a:lnTo>
                  <a:lnTo>
                    <a:pt x="1312291" y="77851"/>
                  </a:lnTo>
                  <a:lnTo>
                    <a:pt x="1317371" y="81788"/>
                  </a:lnTo>
                  <a:lnTo>
                    <a:pt x="1321435" y="89154"/>
                  </a:lnTo>
                  <a:lnTo>
                    <a:pt x="1322451" y="93091"/>
                  </a:lnTo>
                  <a:lnTo>
                    <a:pt x="1322451" y="102997"/>
                  </a:lnTo>
                  <a:lnTo>
                    <a:pt x="1320673" y="107696"/>
                  </a:lnTo>
                  <a:lnTo>
                    <a:pt x="1313307" y="115062"/>
                  </a:lnTo>
                  <a:lnTo>
                    <a:pt x="1308481" y="116967"/>
                  </a:lnTo>
                  <a:lnTo>
                    <a:pt x="1298956" y="116967"/>
                  </a:lnTo>
                  <a:lnTo>
                    <a:pt x="1279906" y="108585"/>
                  </a:lnTo>
                  <a:lnTo>
                    <a:pt x="1274191" y="124460"/>
                  </a:lnTo>
                  <a:lnTo>
                    <a:pt x="1279880" y="127965"/>
                  </a:lnTo>
                  <a:lnTo>
                    <a:pt x="1286090" y="130467"/>
                  </a:lnTo>
                  <a:lnTo>
                    <a:pt x="1292834" y="131965"/>
                  </a:lnTo>
                  <a:lnTo>
                    <a:pt x="1300099" y="132461"/>
                  </a:lnTo>
                  <a:lnTo>
                    <a:pt x="1306728" y="131965"/>
                  </a:lnTo>
                  <a:lnTo>
                    <a:pt x="1307846" y="131965"/>
                  </a:lnTo>
                  <a:lnTo>
                    <a:pt x="1332344" y="116967"/>
                  </a:lnTo>
                  <a:lnTo>
                    <a:pt x="1335366" y="111544"/>
                  </a:lnTo>
                  <a:lnTo>
                    <a:pt x="1337297" y="105232"/>
                  </a:lnTo>
                  <a:lnTo>
                    <a:pt x="1337945" y="98425"/>
                  </a:lnTo>
                  <a:close/>
                </a:path>
                <a:path w="2040890" h="161925">
                  <a:moveTo>
                    <a:pt x="1376299" y="37846"/>
                  </a:moveTo>
                  <a:lnTo>
                    <a:pt x="1350137" y="37846"/>
                  </a:lnTo>
                  <a:lnTo>
                    <a:pt x="1350137" y="51689"/>
                  </a:lnTo>
                  <a:lnTo>
                    <a:pt x="1361567" y="51689"/>
                  </a:lnTo>
                  <a:lnTo>
                    <a:pt x="1361567" y="130302"/>
                  </a:lnTo>
                  <a:lnTo>
                    <a:pt x="1376299" y="130302"/>
                  </a:lnTo>
                  <a:lnTo>
                    <a:pt x="1376299" y="37846"/>
                  </a:lnTo>
                  <a:close/>
                </a:path>
                <a:path w="2040890" h="161925">
                  <a:moveTo>
                    <a:pt x="1378839" y="10287"/>
                  </a:moveTo>
                  <a:lnTo>
                    <a:pt x="1377950" y="7874"/>
                  </a:lnTo>
                  <a:lnTo>
                    <a:pt x="1376172" y="5842"/>
                  </a:lnTo>
                  <a:lnTo>
                    <a:pt x="1374267" y="3937"/>
                  </a:lnTo>
                  <a:lnTo>
                    <a:pt x="1372108" y="2921"/>
                  </a:lnTo>
                  <a:lnTo>
                    <a:pt x="1367028" y="2921"/>
                  </a:lnTo>
                  <a:lnTo>
                    <a:pt x="1364703" y="3937"/>
                  </a:lnTo>
                  <a:lnTo>
                    <a:pt x="1364881" y="3937"/>
                  </a:lnTo>
                  <a:lnTo>
                    <a:pt x="1363218" y="5842"/>
                  </a:lnTo>
                  <a:lnTo>
                    <a:pt x="1361389" y="7874"/>
                  </a:lnTo>
                  <a:lnTo>
                    <a:pt x="1360551" y="10287"/>
                  </a:lnTo>
                  <a:lnTo>
                    <a:pt x="1360551" y="15875"/>
                  </a:lnTo>
                  <a:lnTo>
                    <a:pt x="1361440" y="18161"/>
                  </a:lnTo>
                  <a:lnTo>
                    <a:pt x="1364996" y="22225"/>
                  </a:lnTo>
                  <a:lnTo>
                    <a:pt x="1367155" y="23241"/>
                  </a:lnTo>
                  <a:lnTo>
                    <a:pt x="1372108" y="23241"/>
                  </a:lnTo>
                  <a:lnTo>
                    <a:pt x="1374267" y="22225"/>
                  </a:lnTo>
                  <a:lnTo>
                    <a:pt x="1376172" y="20193"/>
                  </a:lnTo>
                  <a:lnTo>
                    <a:pt x="1377950" y="18161"/>
                  </a:lnTo>
                  <a:lnTo>
                    <a:pt x="1378839" y="15875"/>
                  </a:lnTo>
                  <a:lnTo>
                    <a:pt x="1378839" y="10287"/>
                  </a:lnTo>
                  <a:close/>
                </a:path>
                <a:path w="2040890" h="161925">
                  <a:moveTo>
                    <a:pt x="1462024" y="115570"/>
                  </a:moveTo>
                  <a:lnTo>
                    <a:pt x="1415923" y="115570"/>
                  </a:lnTo>
                  <a:lnTo>
                    <a:pt x="1461516" y="42545"/>
                  </a:lnTo>
                  <a:lnTo>
                    <a:pt x="1461516" y="37846"/>
                  </a:lnTo>
                  <a:lnTo>
                    <a:pt x="1393571" y="37846"/>
                  </a:lnTo>
                  <a:lnTo>
                    <a:pt x="1393571" y="52578"/>
                  </a:lnTo>
                  <a:lnTo>
                    <a:pt x="1440053" y="52578"/>
                  </a:lnTo>
                  <a:lnTo>
                    <a:pt x="1392682" y="125984"/>
                  </a:lnTo>
                  <a:lnTo>
                    <a:pt x="1392682" y="130302"/>
                  </a:lnTo>
                  <a:lnTo>
                    <a:pt x="1462024" y="130302"/>
                  </a:lnTo>
                  <a:lnTo>
                    <a:pt x="1462024" y="115570"/>
                  </a:lnTo>
                  <a:close/>
                </a:path>
                <a:path w="2040890" h="161925">
                  <a:moveTo>
                    <a:pt x="1547622" y="79248"/>
                  </a:moveTo>
                  <a:lnTo>
                    <a:pt x="1547507" y="74295"/>
                  </a:lnTo>
                  <a:lnTo>
                    <a:pt x="1547469" y="73787"/>
                  </a:lnTo>
                  <a:lnTo>
                    <a:pt x="1546999" y="67271"/>
                  </a:lnTo>
                  <a:lnTo>
                    <a:pt x="1545145" y="59715"/>
                  </a:lnTo>
                  <a:lnTo>
                    <a:pt x="1542046" y="53035"/>
                  </a:lnTo>
                  <a:lnTo>
                    <a:pt x="1539709" y="49911"/>
                  </a:lnTo>
                  <a:lnTo>
                    <a:pt x="1537716" y="47244"/>
                  </a:lnTo>
                  <a:lnTo>
                    <a:pt x="1532890" y="43014"/>
                  </a:lnTo>
                  <a:lnTo>
                    <a:pt x="1532890" y="73787"/>
                  </a:lnTo>
                  <a:lnTo>
                    <a:pt x="1486789" y="73787"/>
                  </a:lnTo>
                  <a:lnTo>
                    <a:pt x="1504061" y="49911"/>
                  </a:lnTo>
                  <a:lnTo>
                    <a:pt x="1517650" y="49911"/>
                  </a:lnTo>
                  <a:lnTo>
                    <a:pt x="1523238" y="52324"/>
                  </a:lnTo>
                  <a:lnTo>
                    <a:pt x="1527302" y="57150"/>
                  </a:lnTo>
                  <a:lnTo>
                    <a:pt x="1530870" y="61468"/>
                  </a:lnTo>
                  <a:lnTo>
                    <a:pt x="1530985" y="61595"/>
                  </a:lnTo>
                  <a:lnTo>
                    <a:pt x="1532839" y="67056"/>
                  </a:lnTo>
                  <a:lnTo>
                    <a:pt x="1532890" y="73787"/>
                  </a:lnTo>
                  <a:lnTo>
                    <a:pt x="1532890" y="43014"/>
                  </a:lnTo>
                  <a:lnTo>
                    <a:pt x="1532191" y="42392"/>
                  </a:lnTo>
                  <a:lnTo>
                    <a:pt x="1525714" y="38900"/>
                  </a:lnTo>
                  <a:lnTo>
                    <a:pt x="1518539" y="36855"/>
                  </a:lnTo>
                  <a:lnTo>
                    <a:pt x="1519148" y="36855"/>
                  </a:lnTo>
                  <a:lnTo>
                    <a:pt x="1509903" y="36068"/>
                  </a:lnTo>
                  <a:lnTo>
                    <a:pt x="1502511" y="36855"/>
                  </a:lnTo>
                  <a:lnTo>
                    <a:pt x="1495628" y="39204"/>
                  </a:lnTo>
                  <a:lnTo>
                    <a:pt x="1471815" y="73787"/>
                  </a:lnTo>
                  <a:lnTo>
                    <a:pt x="1471688" y="74295"/>
                  </a:lnTo>
                  <a:lnTo>
                    <a:pt x="1470914" y="85217"/>
                  </a:lnTo>
                  <a:lnTo>
                    <a:pt x="1471663" y="95631"/>
                  </a:lnTo>
                  <a:lnTo>
                    <a:pt x="1473962" y="104927"/>
                  </a:lnTo>
                  <a:lnTo>
                    <a:pt x="1502168" y="131343"/>
                  </a:lnTo>
                  <a:lnTo>
                    <a:pt x="1509776" y="132080"/>
                  </a:lnTo>
                  <a:lnTo>
                    <a:pt x="1517015" y="132080"/>
                  </a:lnTo>
                  <a:lnTo>
                    <a:pt x="1523619" y="130810"/>
                  </a:lnTo>
                  <a:lnTo>
                    <a:pt x="1529461" y="128397"/>
                  </a:lnTo>
                  <a:lnTo>
                    <a:pt x="1534160" y="126619"/>
                  </a:lnTo>
                  <a:lnTo>
                    <a:pt x="1537716" y="124333"/>
                  </a:lnTo>
                  <a:lnTo>
                    <a:pt x="1540002" y="121793"/>
                  </a:lnTo>
                  <a:lnTo>
                    <a:pt x="1538122" y="118237"/>
                  </a:lnTo>
                  <a:lnTo>
                    <a:pt x="1533779" y="109982"/>
                  </a:lnTo>
                  <a:lnTo>
                    <a:pt x="1528064" y="115443"/>
                  </a:lnTo>
                  <a:lnTo>
                    <a:pt x="1521079" y="118237"/>
                  </a:lnTo>
                  <a:lnTo>
                    <a:pt x="1505204" y="118237"/>
                  </a:lnTo>
                  <a:lnTo>
                    <a:pt x="1486408" y="85725"/>
                  </a:lnTo>
                  <a:lnTo>
                    <a:pt x="1546352" y="85725"/>
                  </a:lnTo>
                  <a:lnTo>
                    <a:pt x="1547114" y="82677"/>
                  </a:lnTo>
                  <a:lnTo>
                    <a:pt x="1547622" y="79248"/>
                  </a:lnTo>
                  <a:close/>
                </a:path>
                <a:path w="2040890" h="161925">
                  <a:moveTo>
                    <a:pt x="1591183" y="116459"/>
                  </a:moveTo>
                  <a:lnTo>
                    <a:pt x="1590040" y="113284"/>
                  </a:lnTo>
                  <a:lnTo>
                    <a:pt x="1585595" y="107823"/>
                  </a:lnTo>
                  <a:lnTo>
                    <a:pt x="1583055" y="106426"/>
                  </a:lnTo>
                  <a:lnTo>
                    <a:pt x="1576959" y="106426"/>
                  </a:lnTo>
                  <a:lnTo>
                    <a:pt x="1574292" y="107442"/>
                  </a:lnTo>
                  <a:lnTo>
                    <a:pt x="1572133" y="109347"/>
                  </a:lnTo>
                  <a:lnTo>
                    <a:pt x="1569974" y="111379"/>
                  </a:lnTo>
                  <a:lnTo>
                    <a:pt x="1568958" y="113919"/>
                  </a:lnTo>
                  <a:lnTo>
                    <a:pt x="1568958" y="121412"/>
                  </a:lnTo>
                  <a:lnTo>
                    <a:pt x="1571244" y="124714"/>
                  </a:lnTo>
                  <a:lnTo>
                    <a:pt x="1575689" y="127127"/>
                  </a:lnTo>
                  <a:lnTo>
                    <a:pt x="1577213" y="129667"/>
                  </a:lnTo>
                  <a:lnTo>
                    <a:pt x="1577975" y="132207"/>
                  </a:lnTo>
                  <a:lnTo>
                    <a:pt x="1577975" y="140462"/>
                  </a:lnTo>
                  <a:lnTo>
                    <a:pt x="1573530" y="147320"/>
                  </a:lnTo>
                  <a:lnTo>
                    <a:pt x="1564640" y="155448"/>
                  </a:lnTo>
                  <a:lnTo>
                    <a:pt x="1568577" y="161671"/>
                  </a:lnTo>
                  <a:lnTo>
                    <a:pt x="1591183" y="127889"/>
                  </a:lnTo>
                  <a:lnTo>
                    <a:pt x="1591183" y="116459"/>
                  </a:lnTo>
                  <a:close/>
                </a:path>
                <a:path w="2040890" h="161925">
                  <a:moveTo>
                    <a:pt x="1758950" y="117475"/>
                  </a:moveTo>
                  <a:lnTo>
                    <a:pt x="1758619" y="116967"/>
                  </a:lnTo>
                  <a:lnTo>
                    <a:pt x="1750441" y="104267"/>
                  </a:lnTo>
                  <a:lnTo>
                    <a:pt x="1745678" y="109842"/>
                  </a:lnTo>
                  <a:lnTo>
                    <a:pt x="1739976" y="113817"/>
                  </a:lnTo>
                  <a:lnTo>
                    <a:pt x="1733346" y="116179"/>
                  </a:lnTo>
                  <a:lnTo>
                    <a:pt x="1725803" y="116967"/>
                  </a:lnTo>
                  <a:lnTo>
                    <a:pt x="1719338" y="116179"/>
                  </a:lnTo>
                  <a:lnTo>
                    <a:pt x="1718957" y="116179"/>
                  </a:lnTo>
                  <a:lnTo>
                    <a:pt x="1693113" y="78778"/>
                  </a:lnTo>
                  <a:lnTo>
                    <a:pt x="1692529" y="68453"/>
                  </a:lnTo>
                  <a:lnTo>
                    <a:pt x="1693100" y="57721"/>
                  </a:lnTo>
                  <a:lnTo>
                    <a:pt x="1712150" y="20815"/>
                  </a:lnTo>
                  <a:lnTo>
                    <a:pt x="1725676" y="17272"/>
                  </a:lnTo>
                  <a:lnTo>
                    <a:pt x="1736344" y="17272"/>
                  </a:lnTo>
                  <a:lnTo>
                    <a:pt x="1744218" y="19177"/>
                  </a:lnTo>
                  <a:lnTo>
                    <a:pt x="1749171" y="23241"/>
                  </a:lnTo>
                  <a:lnTo>
                    <a:pt x="1751279" y="17272"/>
                  </a:lnTo>
                  <a:lnTo>
                    <a:pt x="1725295" y="1651"/>
                  </a:lnTo>
                  <a:lnTo>
                    <a:pt x="1714931" y="2832"/>
                  </a:lnTo>
                  <a:lnTo>
                    <a:pt x="1683981" y="30403"/>
                  </a:lnTo>
                  <a:lnTo>
                    <a:pt x="1676273" y="67437"/>
                  </a:lnTo>
                  <a:lnTo>
                    <a:pt x="1677073" y="81381"/>
                  </a:lnTo>
                  <a:lnTo>
                    <a:pt x="1696072" y="122389"/>
                  </a:lnTo>
                  <a:lnTo>
                    <a:pt x="1724152" y="132461"/>
                  </a:lnTo>
                  <a:lnTo>
                    <a:pt x="1734312" y="131533"/>
                  </a:lnTo>
                  <a:lnTo>
                    <a:pt x="1743494" y="128739"/>
                  </a:lnTo>
                  <a:lnTo>
                    <a:pt x="1751698" y="124053"/>
                  </a:lnTo>
                  <a:lnTo>
                    <a:pt x="1758950" y="117475"/>
                  </a:lnTo>
                  <a:close/>
                </a:path>
                <a:path w="2040890" h="161925">
                  <a:moveTo>
                    <a:pt x="1844929" y="83820"/>
                  </a:moveTo>
                  <a:lnTo>
                    <a:pt x="1844332" y="73660"/>
                  </a:lnTo>
                  <a:lnTo>
                    <a:pt x="1844306" y="73253"/>
                  </a:lnTo>
                  <a:lnTo>
                    <a:pt x="1842566" y="64503"/>
                  </a:lnTo>
                  <a:lnTo>
                    <a:pt x="1842452" y="63868"/>
                  </a:lnTo>
                  <a:lnTo>
                    <a:pt x="1839353" y="55702"/>
                  </a:lnTo>
                  <a:lnTo>
                    <a:pt x="1835492" y="49530"/>
                  </a:lnTo>
                  <a:lnTo>
                    <a:pt x="1835023" y="48768"/>
                  </a:lnTo>
                  <a:lnTo>
                    <a:pt x="1829562" y="43256"/>
                  </a:lnTo>
                  <a:lnTo>
                    <a:pt x="1829308" y="43103"/>
                  </a:lnTo>
                  <a:lnTo>
                    <a:pt x="1829308" y="83820"/>
                  </a:lnTo>
                  <a:lnTo>
                    <a:pt x="1828939" y="91490"/>
                  </a:lnTo>
                  <a:lnTo>
                    <a:pt x="1814195" y="118618"/>
                  </a:lnTo>
                  <a:lnTo>
                    <a:pt x="1807210" y="118618"/>
                  </a:lnTo>
                  <a:lnTo>
                    <a:pt x="1797532" y="116459"/>
                  </a:lnTo>
                  <a:lnTo>
                    <a:pt x="1790623" y="109943"/>
                  </a:lnTo>
                  <a:lnTo>
                    <a:pt x="1786483" y="99072"/>
                  </a:lnTo>
                  <a:lnTo>
                    <a:pt x="1785112" y="83820"/>
                  </a:lnTo>
                  <a:lnTo>
                    <a:pt x="1785493" y="76250"/>
                  </a:lnTo>
                  <a:lnTo>
                    <a:pt x="1800479" y="49530"/>
                  </a:lnTo>
                  <a:lnTo>
                    <a:pt x="1807210" y="49530"/>
                  </a:lnTo>
                  <a:lnTo>
                    <a:pt x="1816874" y="51676"/>
                  </a:lnTo>
                  <a:lnTo>
                    <a:pt x="1823783" y="58102"/>
                  </a:lnTo>
                  <a:lnTo>
                    <a:pt x="1827923" y="68821"/>
                  </a:lnTo>
                  <a:lnTo>
                    <a:pt x="1829308" y="83820"/>
                  </a:lnTo>
                  <a:lnTo>
                    <a:pt x="1829308" y="43103"/>
                  </a:lnTo>
                  <a:lnTo>
                    <a:pt x="1823288" y="39395"/>
                  </a:lnTo>
                  <a:lnTo>
                    <a:pt x="1823453" y="39395"/>
                  </a:lnTo>
                  <a:lnTo>
                    <a:pt x="1815731" y="36906"/>
                  </a:lnTo>
                  <a:lnTo>
                    <a:pt x="1815922" y="36906"/>
                  </a:lnTo>
                  <a:lnTo>
                    <a:pt x="1807210" y="36068"/>
                  </a:lnTo>
                  <a:lnTo>
                    <a:pt x="1799209" y="36906"/>
                  </a:lnTo>
                  <a:lnTo>
                    <a:pt x="1772183" y="64503"/>
                  </a:lnTo>
                  <a:lnTo>
                    <a:pt x="1770341" y="73253"/>
                  </a:lnTo>
                  <a:lnTo>
                    <a:pt x="1770253" y="73660"/>
                  </a:lnTo>
                  <a:lnTo>
                    <a:pt x="1769618" y="83820"/>
                  </a:lnTo>
                  <a:lnTo>
                    <a:pt x="1770062" y="91490"/>
                  </a:lnTo>
                  <a:lnTo>
                    <a:pt x="1770253" y="94449"/>
                  </a:lnTo>
                  <a:lnTo>
                    <a:pt x="1791601" y="128841"/>
                  </a:lnTo>
                  <a:lnTo>
                    <a:pt x="1798878" y="131279"/>
                  </a:lnTo>
                  <a:lnTo>
                    <a:pt x="1799018" y="131279"/>
                  </a:lnTo>
                  <a:lnTo>
                    <a:pt x="1807210" y="132080"/>
                  </a:lnTo>
                  <a:lnTo>
                    <a:pt x="1835086" y="118618"/>
                  </a:lnTo>
                  <a:lnTo>
                    <a:pt x="1839188" y="112077"/>
                  </a:lnTo>
                  <a:lnTo>
                    <a:pt x="1842363" y="103860"/>
                  </a:lnTo>
                  <a:lnTo>
                    <a:pt x="1844281" y="94449"/>
                  </a:lnTo>
                  <a:lnTo>
                    <a:pt x="1844929" y="83820"/>
                  </a:lnTo>
                  <a:close/>
                </a:path>
                <a:path w="2040890" h="161925">
                  <a:moveTo>
                    <a:pt x="1887093" y="117348"/>
                  </a:moveTo>
                  <a:lnTo>
                    <a:pt x="1883029" y="117348"/>
                  </a:lnTo>
                  <a:lnTo>
                    <a:pt x="1879600" y="115951"/>
                  </a:lnTo>
                  <a:lnTo>
                    <a:pt x="1877060" y="113030"/>
                  </a:lnTo>
                  <a:lnTo>
                    <a:pt x="1874520" y="110236"/>
                  </a:lnTo>
                  <a:lnTo>
                    <a:pt x="1873250" y="106299"/>
                  </a:lnTo>
                  <a:lnTo>
                    <a:pt x="1873250" y="0"/>
                  </a:lnTo>
                  <a:lnTo>
                    <a:pt x="1858518" y="0"/>
                  </a:lnTo>
                  <a:lnTo>
                    <a:pt x="1858518" y="104140"/>
                  </a:lnTo>
                  <a:lnTo>
                    <a:pt x="1860245" y="115951"/>
                  </a:lnTo>
                  <a:lnTo>
                    <a:pt x="1860296" y="116332"/>
                  </a:lnTo>
                  <a:lnTo>
                    <a:pt x="1865655" y="125069"/>
                  </a:lnTo>
                  <a:lnTo>
                    <a:pt x="1874583" y="130327"/>
                  </a:lnTo>
                  <a:lnTo>
                    <a:pt x="1887093" y="132080"/>
                  </a:lnTo>
                  <a:lnTo>
                    <a:pt x="1887093" y="117348"/>
                  </a:lnTo>
                  <a:close/>
                </a:path>
                <a:path w="2040890" h="161925">
                  <a:moveTo>
                    <a:pt x="1975993" y="83820"/>
                  </a:moveTo>
                  <a:lnTo>
                    <a:pt x="1975396" y="73660"/>
                  </a:lnTo>
                  <a:lnTo>
                    <a:pt x="1975370" y="73253"/>
                  </a:lnTo>
                  <a:lnTo>
                    <a:pt x="1973630" y="64503"/>
                  </a:lnTo>
                  <a:lnTo>
                    <a:pt x="1973516" y="63868"/>
                  </a:lnTo>
                  <a:lnTo>
                    <a:pt x="1970417" y="55702"/>
                  </a:lnTo>
                  <a:lnTo>
                    <a:pt x="1966556" y="49530"/>
                  </a:lnTo>
                  <a:lnTo>
                    <a:pt x="1966087" y="48768"/>
                  </a:lnTo>
                  <a:lnTo>
                    <a:pt x="1960626" y="43256"/>
                  </a:lnTo>
                  <a:lnTo>
                    <a:pt x="1960372" y="43103"/>
                  </a:lnTo>
                  <a:lnTo>
                    <a:pt x="1960372" y="83820"/>
                  </a:lnTo>
                  <a:lnTo>
                    <a:pt x="1960003" y="91490"/>
                  </a:lnTo>
                  <a:lnTo>
                    <a:pt x="1945259" y="118618"/>
                  </a:lnTo>
                  <a:lnTo>
                    <a:pt x="1938274" y="118618"/>
                  </a:lnTo>
                  <a:lnTo>
                    <a:pt x="1928596" y="116459"/>
                  </a:lnTo>
                  <a:lnTo>
                    <a:pt x="1921700" y="109943"/>
                  </a:lnTo>
                  <a:lnTo>
                    <a:pt x="1917547" y="99072"/>
                  </a:lnTo>
                  <a:lnTo>
                    <a:pt x="1916176" y="83820"/>
                  </a:lnTo>
                  <a:lnTo>
                    <a:pt x="1916557" y="76250"/>
                  </a:lnTo>
                  <a:lnTo>
                    <a:pt x="1931543" y="49530"/>
                  </a:lnTo>
                  <a:lnTo>
                    <a:pt x="1938274" y="49530"/>
                  </a:lnTo>
                  <a:lnTo>
                    <a:pt x="1947938" y="51676"/>
                  </a:lnTo>
                  <a:lnTo>
                    <a:pt x="1954847" y="58102"/>
                  </a:lnTo>
                  <a:lnTo>
                    <a:pt x="1958987" y="68821"/>
                  </a:lnTo>
                  <a:lnTo>
                    <a:pt x="1960372" y="83820"/>
                  </a:lnTo>
                  <a:lnTo>
                    <a:pt x="1960372" y="43103"/>
                  </a:lnTo>
                  <a:lnTo>
                    <a:pt x="1954352" y="39395"/>
                  </a:lnTo>
                  <a:lnTo>
                    <a:pt x="1954517" y="39395"/>
                  </a:lnTo>
                  <a:lnTo>
                    <a:pt x="1946795" y="36906"/>
                  </a:lnTo>
                  <a:lnTo>
                    <a:pt x="1946986" y="36906"/>
                  </a:lnTo>
                  <a:lnTo>
                    <a:pt x="1938274" y="36068"/>
                  </a:lnTo>
                  <a:lnTo>
                    <a:pt x="1930273" y="36906"/>
                  </a:lnTo>
                  <a:lnTo>
                    <a:pt x="1903247" y="64503"/>
                  </a:lnTo>
                  <a:lnTo>
                    <a:pt x="1901405" y="73253"/>
                  </a:lnTo>
                  <a:lnTo>
                    <a:pt x="1901317" y="73660"/>
                  </a:lnTo>
                  <a:lnTo>
                    <a:pt x="1900682" y="83820"/>
                  </a:lnTo>
                  <a:lnTo>
                    <a:pt x="1901126" y="91490"/>
                  </a:lnTo>
                  <a:lnTo>
                    <a:pt x="1901317" y="94449"/>
                  </a:lnTo>
                  <a:lnTo>
                    <a:pt x="1922665" y="128841"/>
                  </a:lnTo>
                  <a:lnTo>
                    <a:pt x="1929942" y="131279"/>
                  </a:lnTo>
                  <a:lnTo>
                    <a:pt x="1930082" y="131279"/>
                  </a:lnTo>
                  <a:lnTo>
                    <a:pt x="1938274" y="132080"/>
                  </a:lnTo>
                  <a:lnTo>
                    <a:pt x="1966150" y="118618"/>
                  </a:lnTo>
                  <a:lnTo>
                    <a:pt x="1970252" y="112077"/>
                  </a:lnTo>
                  <a:lnTo>
                    <a:pt x="1973427" y="103860"/>
                  </a:lnTo>
                  <a:lnTo>
                    <a:pt x="1975345" y="94449"/>
                  </a:lnTo>
                  <a:lnTo>
                    <a:pt x="1975993" y="83820"/>
                  </a:lnTo>
                  <a:close/>
                </a:path>
                <a:path w="2040890" h="161925">
                  <a:moveTo>
                    <a:pt x="2040356" y="37846"/>
                  </a:moveTo>
                  <a:lnTo>
                    <a:pt x="2034794" y="36703"/>
                  </a:lnTo>
                  <a:lnTo>
                    <a:pt x="2030984" y="36068"/>
                  </a:lnTo>
                  <a:lnTo>
                    <a:pt x="2028317" y="36068"/>
                  </a:lnTo>
                  <a:lnTo>
                    <a:pt x="2020811" y="37122"/>
                  </a:lnTo>
                  <a:lnTo>
                    <a:pt x="2014308" y="40233"/>
                  </a:lnTo>
                  <a:lnTo>
                    <a:pt x="2008809" y="45402"/>
                  </a:lnTo>
                  <a:lnTo>
                    <a:pt x="2004314" y="52578"/>
                  </a:lnTo>
                  <a:lnTo>
                    <a:pt x="2004314" y="37846"/>
                  </a:lnTo>
                  <a:lnTo>
                    <a:pt x="1989582" y="37846"/>
                  </a:lnTo>
                  <a:lnTo>
                    <a:pt x="1989582" y="130302"/>
                  </a:lnTo>
                  <a:lnTo>
                    <a:pt x="2004314" y="130302"/>
                  </a:lnTo>
                  <a:lnTo>
                    <a:pt x="2004314" y="69723"/>
                  </a:lnTo>
                  <a:lnTo>
                    <a:pt x="2006219" y="63373"/>
                  </a:lnTo>
                  <a:lnTo>
                    <a:pt x="2010156" y="57912"/>
                  </a:lnTo>
                  <a:lnTo>
                    <a:pt x="2014093" y="52578"/>
                  </a:lnTo>
                  <a:lnTo>
                    <a:pt x="2018665" y="49911"/>
                  </a:lnTo>
                  <a:lnTo>
                    <a:pt x="2027174" y="49911"/>
                  </a:lnTo>
                  <a:lnTo>
                    <a:pt x="2030349" y="51181"/>
                  </a:lnTo>
                  <a:lnTo>
                    <a:pt x="2033651" y="53594"/>
                  </a:lnTo>
                  <a:lnTo>
                    <a:pt x="2035060" y="49911"/>
                  </a:lnTo>
                  <a:lnTo>
                    <a:pt x="2039696" y="37846"/>
                  </a:lnTo>
                  <a:lnTo>
                    <a:pt x="2040356" y="37846"/>
                  </a:lnTo>
                  <a:close/>
                </a:path>
              </a:pathLst>
            </a:custGeom>
            <a:solidFill>
              <a:srgbClr val="D4E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24636" y="484077"/>
            <a:ext cx="3556000" cy="537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140" dirty="0"/>
              <a:t>Dataset</a:t>
            </a:r>
            <a:r>
              <a:rPr spc="110" dirty="0"/>
              <a:t> </a:t>
            </a:r>
            <a:r>
              <a:rPr spc="140" dirty="0"/>
              <a:t>Overview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sz="half" idx="2"/>
          </p:nvPr>
        </p:nvSpPr>
        <p:spPr>
          <a:xfrm>
            <a:off x="843953" y="1484763"/>
            <a:ext cx="6442388" cy="29375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spc="65" dirty="0"/>
              <a:t>Dataset</a:t>
            </a:r>
            <a:r>
              <a:rPr spc="180" dirty="0"/>
              <a:t> </a:t>
            </a:r>
            <a:r>
              <a:rPr spc="45" dirty="0"/>
              <a:t>Specifications</a:t>
            </a:r>
          </a:p>
          <a:p>
            <a:pPr marL="12700" marR="76835" algn="just">
              <a:lnSpc>
                <a:spcPct val="138700"/>
              </a:lnSpc>
              <a:spcBef>
                <a:spcPts val="1005"/>
              </a:spcBef>
            </a:pP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Analysis</a:t>
            </a:r>
            <a:r>
              <a:rPr sz="1400" spc="-6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encompassed</a:t>
            </a:r>
            <a:r>
              <a:rPr sz="1400" spc="-6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4E3EE"/>
                </a:solidFill>
                <a:latin typeface="Arial"/>
                <a:cs typeface="Arial"/>
              </a:rPr>
              <a:t>3,600</a:t>
            </a:r>
            <a:r>
              <a:rPr sz="1400" b="1" spc="-30" dirty="0">
                <a:solidFill>
                  <a:srgbClr val="D4E3EE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D4E3EE"/>
                </a:solidFill>
                <a:latin typeface="Arial"/>
                <a:cs typeface="Arial"/>
              </a:rPr>
              <a:t>rows</a:t>
            </a:r>
            <a:r>
              <a:rPr sz="1400" b="1" spc="-25" dirty="0">
                <a:solidFill>
                  <a:srgbClr val="D4E3EE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D4E3EE"/>
                </a:solidFill>
                <a:latin typeface="Trebuchet MS"/>
                <a:cs typeface="Trebuchet MS"/>
              </a:rPr>
              <a:t>with</a:t>
            </a:r>
            <a:r>
              <a:rPr sz="1400" spc="-5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4E3EE"/>
                </a:solidFill>
                <a:latin typeface="Arial"/>
                <a:cs typeface="Arial"/>
              </a:rPr>
              <a:t>18</a:t>
            </a:r>
            <a:r>
              <a:rPr sz="1400" b="1" spc="-25" dirty="0">
                <a:solidFill>
                  <a:srgbClr val="D4E3EE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D4E3EE"/>
                </a:solidFill>
                <a:latin typeface="Arial"/>
                <a:cs typeface="Arial"/>
              </a:rPr>
              <a:t>columns</a:t>
            </a:r>
            <a:r>
              <a:rPr sz="1400" b="1" spc="-15" dirty="0">
                <a:solidFill>
                  <a:srgbClr val="D4E3E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capturing </a:t>
            </a:r>
            <a:r>
              <a:rPr sz="1400" spc="-20" dirty="0">
                <a:solidFill>
                  <a:srgbClr val="D4E3EE"/>
                </a:solidFill>
                <a:latin typeface="Trebuchet MS"/>
                <a:cs typeface="Trebuchet MS"/>
              </a:rPr>
              <a:t>comprehensive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4E3EE"/>
                </a:solidFill>
                <a:latin typeface="Trebuchet MS"/>
                <a:cs typeface="Trebuchet MS"/>
              </a:rPr>
              <a:t>customer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4E3EE"/>
                </a:solidFill>
                <a:latin typeface="Trebuchet MS"/>
                <a:cs typeface="Trebuchet MS"/>
              </a:rPr>
              <a:t>purchase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4E3EE"/>
                </a:solidFill>
                <a:latin typeface="Trebuchet MS"/>
                <a:cs typeface="Trebuchet MS"/>
              </a:rPr>
              <a:t>behavior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4E3EE"/>
                </a:solidFill>
                <a:latin typeface="Trebuchet MS"/>
                <a:cs typeface="Trebuchet MS"/>
              </a:rPr>
              <a:t>across</a:t>
            </a:r>
            <a:r>
              <a:rPr sz="1400" spc="-6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multiple touchpoints.</a:t>
            </a:r>
            <a:endParaRPr sz="1400">
              <a:latin typeface="Trebuchet MS"/>
              <a:cs typeface="Trebuchet MS"/>
            </a:endParaRPr>
          </a:p>
          <a:p>
            <a:pPr>
              <a:spcBef>
                <a:spcPts val="235"/>
              </a:spcBef>
            </a:pPr>
            <a:endParaRPr sz="1400">
              <a:latin typeface="Trebuchet MS"/>
              <a:cs typeface="Trebuchet MS"/>
            </a:endParaRPr>
          </a:p>
          <a:p>
            <a:pPr marL="12700" algn="just"/>
            <a:r>
              <a:rPr spc="70" dirty="0"/>
              <a:t>Data</a:t>
            </a:r>
            <a:r>
              <a:rPr spc="135" dirty="0"/>
              <a:t> </a:t>
            </a:r>
            <a:r>
              <a:rPr spc="50" dirty="0"/>
              <a:t>Preprocessing</a:t>
            </a:r>
          </a:p>
          <a:p>
            <a:pPr marL="304800" marR="5080">
              <a:lnSpc>
                <a:spcPct val="165800"/>
              </a:lnSpc>
              <a:spcBef>
                <a:spcPts val="645"/>
              </a:spcBef>
            </a:pP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Handled</a:t>
            </a:r>
            <a:r>
              <a:rPr sz="1400" spc="-11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missing</a:t>
            </a:r>
            <a:r>
              <a:rPr sz="1400" spc="-10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review</a:t>
            </a:r>
            <a:r>
              <a:rPr sz="1400" spc="-10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4E3EE"/>
                </a:solidFill>
                <a:latin typeface="Trebuchet MS"/>
                <a:cs typeface="Trebuchet MS"/>
              </a:rPr>
              <a:t>ratings</a:t>
            </a:r>
            <a:r>
              <a:rPr sz="1400" spc="-12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4E3EE"/>
                </a:solidFill>
                <a:latin typeface="Trebuchet MS"/>
                <a:cs typeface="Trebuchet MS"/>
              </a:rPr>
              <a:t>using</a:t>
            </a:r>
            <a:r>
              <a:rPr sz="1400" spc="-10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statistical</a:t>
            </a:r>
            <a:r>
              <a:rPr sz="1400" spc="-10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imputation </a:t>
            </a:r>
            <a:r>
              <a:rPr sz="1400" dirty="0">
                <a:solidFill>
                  <a:srgbClr val="D4E3EE"/>
                </a:solidFill>
                <a:latin typeface="Trebuchet MS"/>
                <a:cs typeface="Trebuchet MS"/>
              </a:rPr>
              <a:t>Standardized</a:t>
            </a:r>
            <a:r>
              <a:rPr sz="1400" spc="-8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4E3EE"/>
                </a:solidFill>
                <a:latin typeface="Trebuchet MS"/>
                <a:cs typeface="Trebuchet MS"/>
              </a:rPr>
              <a:t>column</a:t>
            </a:r>
            <a:r>
              <a:rPr sz="1400" spc="-7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4E3EE"/>
                </a:solidFill>
                <a:latin typeface="Trebuchet MS"/>
                <a:cs typeface="Trebuchet MS"/>
              </a:rPr>
              <a:t>naming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conventions</a:t>
            </a:r>
            <a:endParaRPr sz="1400">
              <a:latin typeface="Trebuchet MS"/>
              <a:cs typeface="Trebuchet MS"/>
            </a:endParaRPr>
          </a:p>
          <a:p>
            <a:pPr marL="304800" marR="1465580">
              <a:lnSpc>
                <a:spcPct val="163000"/>
              </a:lnSpc>
              <a:spcBef>
                <a:spcPts val="45"/>
              </a:spcBef>
            </a:pP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Created</a:t>
            </a:r>
            <a:r>
              <a:rPr sz="1400" spc="-12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age</a:t>
            </a:r>
            <a:r>
              <a:rPr sz="1400" spc="-6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group</a:t>
            </a:r>
            <a:r>
              <a:rPr sz="1400" spc="-12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classifications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Engineered</a:t>
            </a:r>
            <a:r>
              <a:rPr sz="1400" spc="-9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purchase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frequency</a:t>
            </a:r>
            <a:r>
              <a:rPr sz="1400" spc="-7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metrics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35471" y="1484763"/>
            <a:ext cx="1993264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75" dirty="0">
                <a:solidFill>
                  <a:srgbClr val="F889C6"/>
                </a:solidFill>
                <a:latin typeface="Cambria"/>
                <a:cs typeface="Cambria"/>
              </a:rPr>
              <a:t>Key</a:t>
            </a:r>
            <a:r>
              <a:rPr sz="1650" spc="100" dirty="0">
                <a:solidFill>
                  <a:srgbClr val="F889C6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F889C6"/>
                </a:solidFill>
                <a:latin typeface="Cambria"/>
                <a:cs typeface="Cambria"/>
              </a:rPr>
              <a:t>Data</a:t>
            </a:r>
            <a:r>
              <a:rPr sz="1650" spc="100" dirty="0">
                <a:solidFill>
                  <a:srgbClr val="F889C6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F889C6"/>
                </a:solidFill>
                <a:latin typeface="Cambria"/>
                <a:cs typeface="Cambria"/>
              </a:rPr>
              <a:t>Categories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121" y="3559181"/>
            <a:ext cx="66041" cy="6603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121" y="3911859"/>
            <a:ext cx="66041" cy="6603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121" y="4261745"/>
            <a:ext cx="66041" cy="660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121" y="4615694"/>
            <a:ext cx="66041" cy="660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5923915" y="4618990"/>
            <a:ext cx="4876800" cy="1143000"/>
            <a:chOff x="5923915" y="4618990"/>
            <a:chExt cx="4876800" cy="1143000"/>
          </a:xfrm>
        </p:grpSpPr>
        <p:sp>
          <p:nvSpPr>
            <p:cNvPr id="27" name="object 27"/>
            <p:cNvSpPr/>
            <p:nvPr/>
          </p:nvSpPr>
          <p:spPr>
            <a:xfrm>
              <a:off x="5942965" y="4628515"/>
              <a:ext cx="4848225" cy="1123950"/>
            </a:xfrm>
            <a:custGeom>
              <a:avLst/>
              <a:gdLst/>
              <a:ahLst/>
              <a:cxnLst/>
              <a:rect l="l" t="t" r="r" b="b"/>
              <a:pathLst>
                <a:path w="4848225" h="1123950">
                  <a:moveTo>
                    <a:pt x="4836795" y="0"/>
                  </a:moveTo>
                  <a:lnTo>
                    <a:pt x="71247" y="0"/>
                  </a:lnTo>
                  <a:lnTo>
                    <a:pt x="51688" y="3429"/>
                  </a:lnTo>
                  <a:lnTo>
                    <a:pt x="15621" y="26035"/>
                  </a:lnTo>
                  <a:lnTo>
                    <a:pt x="0" y="62357"/>
                  </a:lnTo>
                  <a:lnTo>
                    <a:pt x="0" y="1061643"/>
                  </a:lnTo>
                  <a:lnTo>
                    <a:pt x="3937" y="1078738"/>
                  </a:lnTo>
                  <a:lnTo>
                    <a:pt x="29718" y="1110272"/>
                  </a:lnTo>
                  <a:lnTo>
                    <a:pt x="71247" y="1123950"/>
                  </a:lnTo>
                  <a:lnTo>
                    <a:pt x="4836795" y="1123950"/>
                  </a:lnTo>
                  <a:lnTo>
                    <a:pt x="4838445" y="1123607"/>
                  </a:lnTo>
                  <a:lnTo>
                    <a:pt x="4848225" y="1112456"/>
                  </a:lnTo>
                  <a:lnTo>
                    <a:pt x="4848225" y="11430"/>
                  </a:lnTo>
                  <a:lnTo>
                    <a:pt x="483679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43854" y="4618990"/>
              <a:ext cx="4857115" cy="1143000"/>
            </a:xfrm>
            <a:custGeom>
              <a:avLst/>
              <a:gdLst/>
              <a:ahLst/>
              <a:cxnLst/>
              <a:rect l="l" t="t" r="r" b="b"/>
              <a:pathLst>
                <a:path w="4857115" h="1143000">
                  <a:moveTo>
                    <a:pt x="4840351" y="0"/>
                  </a:moveTo>
                  <a:lnTo>
                    <a:pt x="75311" y="0"/>
                  </a:lnTo>
                  <a:lnTo>
                    <a:pt x="67818" y="381"/>
                  </a:lnTo>
                  <a:lnTo>
                    <a:pt x="26924" y="17272"/>
                  </a:lnTo>
                  <a:lnTo>
                    <a:pt x="2412" y="54102"/>
                  </a:lnTo>
                  <a:lnTo>
                    <a:pt x="0" y="65405"/>
                  </a:lnTo>
                  <a:lnTo>
                    <a:pt x="1016" y="61341"/>
                  </a:lnTo>
                  <a:lnTo>
                    <a:pt x="8762" y="47371"/>
                  </a:lnTo>
                  <a:lnTo>
                    <a:pt x="46100" y="23368"/>
                  </a:lnTo>
                  <a:lnTo>
                    <a:pt x="75311" y="19050"/>
                  </a:lnTo>
                  <a:lnTo>
                    <a:pt x="4836541" y="19050"/>
                  </a:lnTo>
                  <a:lnTo>
                    <a:pt x="4837811" y="20320"/>
                  </a:lnTo>
                  <a:lnTo>
                    <a:pt x="4837684" y="1122857"/>
                  </a:lnTo>
                  <a:lnTo>
                    <a:pt x="4836541" y="1123950"/>
                  </a:lnTo>
                  <a:lnTo>
                    <a:pt x="75311" y="1123950"/>
                  </a:lnTo>
                  <a:lnTo>
                    <a:pt x="67818" y="1123683"/>
                  </a:lnTo>
                  <a:lnTo>
                    <a:pt x="26924" y="1111008"/>
                  </a:lnTo>
                  <a:lnTo>
                    <a:pt x="1016" y="1081671"/>
                  </a:lnTo>
                  <a:lnTo>
                    <a:pt x="0" y="1077556"/>
                  </a:lnTo>
                  <a:lnTo>
                    <a:pt x="508" y="1081671"/>
                  </a:lnTo>
                  <a:lnTo>
                    <a:pt x="21462" y="1120686"/>
                  </a:lnTo>
                  <a:lnTo>
                    <a:pt x="60451" y="1141552"/>
                  </a:lnTo>
                  <a:lnTo>
                    <a:pt x="75311" y="1143000"/>
                  </a:lnTo>
                  <a:lnTo>
                    <a:pt x="4840351" y="1143000"/>
                  </a:lnTo>
                  <a:lnTo>
                    <a:pt x="4845685" y="1140777"/>
                  </a:lnTo>
                  <a:lnTo>
                    <a:pt x="4854575" y="1131887"/>
                  </a:lnTo>
                  <a:lnTo>
                    <a:pt x="4856861" y="1126528"/>
                  </a:lnTo>
                  <a:lnTo>
                    <a:pt x="4856861" y="16510"/>
                  </a:lnTo>
                  <a:lnTo>
                    <a:pt x="4854575" y="11176"/>
                  </a:lnTo>
                  <a:lnTo>
                    <a:pt x="4845685" y="2286"/>
                  </a:lnTo>
                  <a:lnTo>
                    <a:pt x="4840351" y="0"/>
                  </a:lnTo>
                  <a:close/>
                </a:path>
              </a:pathLst>
            </a:custGeom>
            <a:solidFill>
              <a:srgbClr val="5C5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23915" y="4618990"/>
              <a:ext cx="76198" cy="1143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18428" y="4882261"/>
              <a:ext cx="910336" cy="1927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06996" y="4882261"/>
              <a:ext cx="871770" cy="14858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194805" y="5290216"/>
            <a:ext cx="3477260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400" spc="-50" dirty="0">
                <a:solidFill>
                  <a:srgbClr val="D4E3EE"/>
                </a:solidFill>
                <a:latin typeface="Trebuchet MS"/>
                <a:cs typeface="Trebuchet MS"/>
              </a:rPr>
              <a:t>Discounts,</a:t>
            </a:r>
            <a:r>
              <a:rPr sz="1400" spc="-9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D4E3EE"/>
                </a:solidFill>
                <a:latin typeface="Trebuchet MS"/>
                <a:cs typeface="Trebuchet MS"/>
              </a:rPr>
              <a:t>Frequency,</a:t>
            </a:r>
            <a:r>
              <a:rPr sz="1400" spc="-12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Review</a:t>
            </a:r>
            <a:r>
              <a:rPr sz="1400" spc="-114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Rating,</a:t>
            </a:r>
            <a:r>
              <a:rPr sz="1400" spc="-12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Shipping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8667750"/>
          </a:xfrm>
          <a:custGeom>
            <a:avLst/>
            <a:gdLst/>
            <a:ahLst/>
            <a:cxnLst/>
            <a:rect l="l" t="t" r="r" b="b"/>
            <a:pathLst>
              <a:path w="11430000" h="8667750">
                <a:moveTo>
                  <a:pt x="11430000" y="0"/>
                </a:moveTo>
                <a:lnTo>
                  <a:pt x="0" y="0"/>
                </a:lnTo>
                <a:lnTo>
                  <a:pt x="0" y="8667750"/>
                </a:lnTo>
                <a:lnTo>
                  <a:pt x="11430000" y="86677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328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2129155"/>
            <a:ext cx="5867400" cy="190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" y="3833495"/>
            <a:ext cx="5867400" cy="190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5528310"/>
            <a:ext cx="5867400" cy="190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6937376"/>
            <a:ext cx="5867400" cy="190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24640" y="484073"/>
            <a:ext cx="5343525" cy="10718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35"/>
              </a:spcBef>
            </a:pPr>
            <a:r>
              <a:rPr spc="145" dirty="0">
                <a:solidFill>
                  <a:srgbClr val="F888C6"/>
                </a:solidFill>
              </a:rPr>
              <a:t>Data</a:t>
            </a:r>
            <a:r>
              <a:rPr spc="-120" dirty="0">
                <a:solidFill>
                  <a:srgbClr val="F888C6"/>
                </a:solidFill>
              </a:rPr>
              <a:t> </a:t>
            </a:r>
            <a:r>
              <a:rPr spc="140" dirty="0">
                <a:solidFill>
                  <a:srgbClr val="F888C6"/>
                </a:solidFill>
              </a:rPr>
              <a:t>Processing</a:t>
            </a:r>
            <a:r>
              <a:rPr spc="-95" dirty="0">
                <a:solidFill>
                  <a:srgbClr val="F888C6"/>
                </a:solidFill>
              </a:rPr>
              <a:t> </a:t>
            </a:r>
            <a:r>
              <a:rPr spc="204" dirty="0">
                <a:solidFill>
                  <a:srgbClr val="F888C6"/>
                </a:solidFill>
              </a:rPr>
              <a:t>&amp;</a:t>
            </a:r>
            <a:r>
              <a:rPr spc="-110" dirty="0">
                <a:solidFill>
                  <a:srgbClr val="F888C6"/>
                </a:solidFill>
              </a:rPr>
              <a:t> </a:t>
            </a:r>
            <a:r>
              <a:rPr spc="120" dirty="0">
                <a:solidFill>
                  <a:srgbClr val="F888C6"/>
                </a:solidFill>
              </a:rPr>
              <a:t>Analysis </a:t>
            </a:r>
            <a:r>
              <a:rPr spc="140" dirty="0">
                <a:solidFill>
                  <a:srgbClr val="F888C6"/>
                </a:solidFill>
              </a:rPr>
              <a:t>Workflow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9402" y="1825885"/>
            <a:ext cx="5648325" cy="6143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480">
              <a:spcBef>
                <a:spcPts val="90"/>
              </a:spcBef>
            </a:pPr>
            <a:r>
              <a:rPr sz="1400" spc="-25" dirty="0">
                <a:solidFill>
                  <a:srgbClr val="D5E4EE"/>
                </a:solidFill>
                <a:latin typeface="Cambria"/>
                <a:cs typeface="Cambria"/>
              </a:rPr>
              <a:t>01</a:t>
            </a:r>
            <a:endParaRPr sz="1400">
              <a:latin typeface="Cambria"/>
              <a:cs typeface="Cambria"/>
            </a:endParaRPr>
          </a:p>
          <a:p>
            <a:pPr>
              <a:spcBef>
                <a:spcPts val="30"/>
              </a:spcBef>
            </a:pPr>
            <a:endParaRPr sz="1400">
              <a:latin typeface="Cambria"/>
              <a:cs typeface="Cambria"/>
            </a:endParaRPr>
          </a:p>
          <a:p>
            <a:pPr marL="27305"/>
            <a:r>
              <a:rPr sz="1650" spc="70" dirty="0">
                <a:solidFill>
                  <a:srgbClr val="D5E4EE"/>
                </a:solidFill>
                <a:latin typeface="Cambria"/>
                <a:cs typeface="Cambria"/>
              </a:rPr>
              <a:t>Data</a:t>
            </a:r>
            <a:r>
              <a:rPr sz="1650" spc="13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D5E4EE"/>
                </a:solidFill>
                <a:latin typeface="Cambria"/>
                <a:cs typeface="Cambria"/>
              </a:rPr>
              <a:t>Cleaning</a:t>
            </a:r>
            <a:r>
              <a:rPr sz="1650" spc="150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100" dirty="0">
                <a:solidFill>
                  <a:srgbClr val="D5E4EE"/>
                </a:solidFill>
                <a:latin typeface="Cambria"/>
                <a:cs typeface="Cambria"/>
              </a:rPr>
              <a:t>&amp;</a:t>
            </a:r>
            <a:r>
              <a:rPr sz="1650" spc="80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D5E4EE"/>
                </a:solidFill>
                <a:latin typeface="Cambria"/>
                <a:cs typeface="Cambria"/>
              </a:rPr>
              <a:t>Exploration</a:t>
            </a:r>
            <a:endParaRPr sz="1650">
              <a:latin typeface="Cambria"/>
              <a:cs typeface="Cambria"/>
            </a:endParaRPr>
          </a:p>
          <a:p>
            <a:pPr marL="27305" marR="43815">
              <a:lnSpc>
                <a:spcPct val="138700"/>
              </a:lnSpc>
              <a:spcBef>
                <a:spcPts val="430"/>
              </a:spcBef>
            </a:pP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Built</a:t>
            </a:r>
            <a:r>
              <a:rPr sz="1400" spc="-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with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Python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40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Pandas</a:t>
            </a:r>
            <a:r>
              <a:rPr sz="140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data</a:t>
            </a:r>
            <a:r>
              <a:rPr sz="140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quality</a:t>
            </a:r>
            <a:r>
              <a:rPr sz="14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assessment</a:t>
            </a:r>
            <a:r>
              <a:rPr sz="14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40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exploratory analysis</a:t>
            </a:r>
            <a:endParaRPr sz="1400">
              <a:latin typeface="Trebuchet MS"/>
              <a:cs typeface="Trebuchet MS"/>
            </a:endParaRPr>
          </a:p>
          <a:p>
            <a:pPr>
              <a:spcBef>
                <a:spcPts val="1370"/>
              </a:spcBef>
            </a:pPr>
            <a:endParaRPr sz="1400">
              <a:latin typeface="Trebuchet MS"/>
              <a:cs typeface="Trebuchet MS"/>
            </a:endParaRPr>
          </a:p>
          <a:p>
            <a:pPr marL="15240">
              <a:spcBef>
                <a:spcPts val="5"/>
              </a:spcBef>
            </a:pPr>
            <a:r>
              <a:rPr sz="1400" spc="-25" dirty="0">
                <a:solidFill>
                  <a:srgbClr val="D5E4EE"/>
                </a:solidFill>
                <a:latin typeface="Cambria"/>
                <a:cs typeface="Cambria"/>
              </a:rPr>
              <a:t>02</a:t>
            </a:r>
            <a:endParaRPr sz="1400">
              <a:latin typeface="Cambria"/>
              <a:cs typeface="Cambria"/>
            </a:endParaRPr>
          </a:p>
          <a:p>
            <a:pPr marL="27305">
              <a:spcBef>
                <a:spcPts val="1600"/>
              </a:spcBef>
            </a:pPr>
            <a:r>
              <a:rPr sz="1650" spc="70" dirty="0">
                <a:solidFill>
                  <a:srgbClr val="D5E4EE"/>
                </a:solidFill>
                <a:latin typeface="Cambria"/>
                <a:cs typeface="Cambria"/>
              </a:rPr>
              <a:t>Feature</a:t>
            </a:r>
            <a:r>
              <a:rPr sz="1650" spc="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D5E4EE"/>
                </a:solidFill>
                <a:latin typeface="Cambria"/>
                <a:cs typeface="Cambria"/>
              </a:rPr>
              <a:t>Engineering</a:t>
            </a:r>
            <a:endParaRPr sz="1650">
              <a:latin typeface="Cambria"/>
              <a:cs typeface="Cambria"/>
            </a:endParaRPr>
          </a:p>
          <a:p>
            <a:pPr marL="27305" marR="5080">
              <a:lnSpc>
                <a:spcPct val="134300"/>
              </a:lnSpc>
              <a:spcBef>
                <a:spcPts val="550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Created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new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metrics</a:t>
            </a:r>
            <a:r>
              <a:rPr sz="1400" spc="-1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including</a:t>
            </a:r>
            <a:r>
              <a:rPr sz="140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age</a:t>
            </a:r>
            <a:r>
              <a:rPr sz="140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groups,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purchase</a:t>
            </a:r>
            <a:r>
              <a:rPr sz="14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frequency</a:t>
            </a:r>
            <a:r>
              <a:rPr sz="14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bands,</a:t>
            </a:r>
            <a:r>
              <a:rPr sz="14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and customer</a:t>
            </a:r>
            <a:r>
              <a:rPr sz="14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lifetime</a:t>
            </a:r>
            <a:r>
              <a:rPr sz="14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value</a:t>
            </a:r>
            <a:r>
              <a:rPr sz="1400" spc="-6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indicators</a:t>
            </a:r>
            <a:endParaRPr sz="1400">
              <a:latin typeface="Trebuchet MS"/>
              <a:cs typeface="Trebuchet MS"/>
            </a:endParaRPr>
          </a:p>
          <a:p>
            <a:pPr>
              <a:spcBef>
                <a:spcPts val="1400"/>
              </a:spcBef>
            </a:pPr>
            <a:endParaRPr sz="1400">
              <a:latin typeface="Trebuchet MS"/>
              <a:cs typeface="Trebuchet MS"/>
            </a:endParaRPr>
          </a:p>
          <a:p>
            <a:pPr marL="12700"/>
            <a:r>
              <a:rPr sz="1400" spc="-25" dirty="0">
                <a:solidFill>
                  <a:srgbClr val="D5E4EE"/>
                </a:solidFill>
                <a:latin typeface="Cambria"/>
                <a:cs typeface="Cambria"/>
              </a:rPr>
              <a:t>03</a:t>
            </a:r>
            <a:endParaRPr sz="1400">
              <a:latin typeface="Cambria"/>
              <a:cs typeface="Cambria"/>
            </a:endParaRPr>
          </a:p>
          <a:p>
            <a:pPr>
              <a:spcBef>
                <a:spcPts val="30"/>
              </a:spcBef>
            </a:pPr>
            <a:endParaRPr sz="1400">
              <a:latin typeface="Cambria"/>
              <a:cs typeface="Cambria"/>
            </a:endParaRPr>
          </a:p>
          <a:p>
            <a:pPr marL="27305"/>
            <a:r>
              <a:rPr sz="1650" spc="75" dirty="0">
                <a:solidFill>
                  <a:srgbClr val="D5E4EE"/>
                </a:solidFill>
                <a:latin typeface="Cambria"/>
                <a:cs typeface="Cambria"/>
              </a:rPr>
              <a:t>Database</a:t>
            </a:r>
            <a:r>
              <a:rPr sz="1650" spc="9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D5E4EE"/>
                </a:solidFill>
                <a:latin typeface="Cambria"/>
                <a:cs typeface="Cambria"/>
              </a:rPr>
              <a:t>Loading</a:t>
            </a:r>
            <a:endParaRPr sz="1650">
              <a:latin typeface="Cambria"/>
              <a:cs typeface="Cambria"/>
            </a:endParaRPr>
          </a:p>
          <a:p>
            <a:pPr marL="27305">
              <a:spcBef>
                <a:spcPts val="1055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Data</a:t>
            </a:r>
            <a:r>
              <a:rPr sz="1400" spc="-1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loaded</a:t>
            </a:r>
            <a:r>
              <a:rPr sz="140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into</a:t>
            </a:r>
            <a:r>
              <a:rPr sz="140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PostgreSQL</a:t>
            </a:r>
            <a:r>
              <a:rPr sz="1400" spc="-1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400" spc="-1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efficient</a:t>
            </a:r>
            <a:r>
              <a:rPr sz="1400" spc="-1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querying</a:t>
            </a:r>
            <a:r>
              <a:rPr sz="140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400" spc="-1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  <a:p>
            <a:pPr>
              <a:spcBef>
                <a:spcPts val="1425"/>
              </a:spcBef>
            </a:pPr>
            <a:endParaRPr sz="1400">
              <a:latin typeface="Trebuchet MS"/>
              <a:cs typeface="Trebuchet MS"/>
            </a:endParaRPr>
          </a:p>
          <a:p>
            <a:pPr marL="12700"/>
            <a:r>
              <a:rPr sz="1400" spc="-25" dirty="0">
                <a:solidFill>
                  <a:srgbClr val="D5E4EE"/>
                </a:solidFill>
                <a:latin typeface="Cambria"/>
                <a:cs typeface="Cambria"/>
              </a:rPr>
              <a:t>04</a:t>
            </a:r>
            <a:endParaRPr sz="1400">
              <a:latin typeface="Cambria"/>
              <a:cs typeface="Cambria"/>
            </a:endParaRPr>
          </a:p>
          <a:p>
            <a:pPr marL="27305">
              <a:spcBef>
                <a:spcPts val="1575"/>
              </a:spcBef>
            </a:pPr>
            <a:r>
              <a:rPr sz="1650" spc="125" dirty="0">
                <a:solidFill>
                  <a:srgbClr val="D5E4EE"/>
                </a:solidFill>
                <a:latin typeface="Cambria"/>
                <a:cs typeface="Cambria"/>
              </a:rPr>
              <a:t>SQL</a:t>
            </a:r>
            <a:r>
              <a:rPr sz="1650" spc="9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120" dirty="0">
                <a:solidFill>
                  <a:srgbClr val="D5E4EE"/>
                </a:solidFill>
                <a:latin typeface="Cambria"/>
                <a:cs typeface="Cambria"/>
              </a:rPr>
              <a:t>Query</a:t>
            </a:r>
            <a:r>
              <a:rPr sz="1650" spc="3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105" dirty="0">
                <a:solidFill>
                  <a:srgbClr val="D5E4EE"/>
                </a:solidFill>
                <a:latin typeface="Cambria"/>
                <a:cs typeface="Cambria"/>
              </a:rPr>
              <a:t>Development</a:t>
            </a:r>
            <a:endParaRPr sz="1650">
              <a:latin typeface="Cambria"/>
              <a:cs typeface="Cambria"/>
            </a:endParaRPr>
          </a:p>
          <a:p>
            <a:pPr marL="27305" marR="249554">
              <a:lnSpc>
                <a:spcPct val="132900"/>
              </a:lnSpc>
              <a:spcBef>
                <a:spcPts val="600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Wrote</a:t>
            </a:r>
            <a:r>
              <a:rPr sz="1400" spc="-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analytical</a:t>
            </a:r>
            <a:r>
              <a:rPr sz="140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queries</a:t>
            </a:r>
            <a:r>
              <a:rPr sz="1400" spc="-1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400" spc="-1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revenue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by</a:t>
            </a:r>
            <a:r>
              <a:rPr sz="1400" spc="-1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gender,</a:t>
            </a:r>
            <a:r>
              <a:rPr sz="140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high-spending</a:t>
            </a:r>
            <a:r>
              <a:rPr sz="140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discount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users,</a:t>
            </a:r>
            <a:r>
              <a:rPr sz="14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top-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rated</a:t>
            </a:r>
            <a:r>
              <a:rPr sz="14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products,</a:t>
            </a:r>
            <a:r>
              <a:rPr sz="14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4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shipping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type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comparisons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3750" y="4"/>
            <a:ext cx="4286250" cy="8667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3396" y="1960880"/>
            <a:ext cx="32384" cy="13970"/>
          </a:xfrm>
          <a:custGeom>
            <a:avLst/>
            <a:gdLst/>
            <a:ahLst/>
            <a:cxnLst/>
            <a:rect l="l" t="t" r="r" b="b"/>
            <a:pathLst>
              <a:path w="32384" h="13969">
                <a:moveTo>
                  <a:pt x="32308" y="0"/>
                </a:moveTo>
                <a:lnTo>
                  <a:pt x="11861" y="13335"/>
                </a:lnTo>
                <a:lnTo>
                  <a:pt x="0" y="13715"/>
                </a:lnTo>
              </a:path>
            </a:pathLst>
          </a:custGeom>
          <a:ln w="201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8174" y="1971427"/>
            <a:ext cx="11430" cy="3175"/>
          </a:xfrm>
          <a:custGeom>
            <a:avLst/>
            <a:gdLst/>
            <a:ahLst/>
            <a:cxnLst/>
            <a:rect l="l" t="t" r="r" b="b"/>
            <a:pathLst>
              <a:path w="11429" h="3175">
                <a:moveTo>
                  <a:pt x="10998" y="3175"/>
                </a:moveTo>
                <a:lnTo>
                  <a:pt x="7505" y="2539"/>
                </a:lnTo>
                <a:lnTo>
                  <a:pt x="3835" y="1524"/>
                </a:lnTo>
                <a:lnTo>
                  <a:pt x="0" y="0"/>
                </a:lnTo>
              </a:path>
            </a:pathLst>
          </a:custGeom>
          <a:ln w="201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28019" y="1572849"/>
            <a:ext cx="475615" cy="412115"/>
            <a:chOff x="628013" y="1572843"/>
            <a:chExt cx="475615" cy="4121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257" y="1572956"/>
              <a:ext cx="256362" cy="1155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8098" y="1582928"/>
              <a:ext cx="455930" cy="391795"/>
            </a:xfrm>
            <a:custGeom>
              <a:avLst/>
              <a:gdLst/>
              <a:ahLst/>
              <a:cxnLst/>
              <a:rect l="l" t="t" r="r" b="b"/>
              <a:pathLst>
                <a:path w="455930" h="391794">
                  <a:moveTo>
                    <a:pt x="455409" y="101472"/>
                  </a:moveTo>
                  <a:lnTo>
                    <a:pt x="367817" y="14986"/>
                  </a:lnTo>
                </a:path>
                <a:path w="455930" h="391794">
                  <a:moveTo>
                    <a:pt x="455409" y="101472"/>
                  </a:moveTo>
                  <a:lnTo>
                    <a:pt x="386448" y="168909"/>
                  </a:lnTo>
                </a:path>
                <a:path w="455930" h="391794">
                  <a:moveTo>
                    <a:pt x="386448" y="168909"/>
                  </a:moveTo>
                  <a:lnTo>
                    <a:pt x="357530" y="139191"/>
                  </a:lnTo>
                </a:path>
                <a:path w="455930" h="391794">
                  <a:moveTo>
                    <a:pt x="100076" y="388492"/>
                  </a:moveTo>
                  <a:lnTo>
                    <a:pt x="97294" y="139700"/>
                  </a:lnTo>
                </a:path>
                <a:path w="455930" h="391794">
                  <a:moveTo>
                    <a:pt x="97294" y="139700"/>
                  </a:moveTo>
                  <a:lnTo>
                    <a:pt x="67957" y="168147"/>
                  </a:lnTo>
                </a:path>
                <a:path w="455930" h="391794">
                  <a:moveTo>
                    <a:pt x="67957" y="168147"/>
                  </a:moveTo>
                  <a:lnTo>
                    <a:pt x="0" y="101600"/>
                  </a:lnTo>
                </a:path>
                <a:path w="455930" h="391794">
                  <a:moveTo>
                    <a:pt x="89242" y="13207"/>
                  </a:moveTo>
                  <a:lnTo>
                    <a:pt x="0" y="101600"/>
                  </a:lnTo>
                </a:path>
                <a:path w="455930" h="391794">
                  <a:moveTo>
                    <a:pt x="357530" y="139191"/>
                  </a:moveTo>
                  <a:lnTo>
                    <a:pt x="357606" y="377951"/>
                  </a:lnTo>
                </a:path>
                <a:path w="455930" h="391794">
                  <a:moveTo>
                    <a:pt x="367817" y="14986"/>
                  </a:moveTo>
                  <a:lnTo>
                    <a:pt x="357225" y="6730"/>
                  </a:lnTo>
                  <a:lnTo>
                    <a:pt x="346583" y="2158"/>
                  </a:lnTo>
                  <a:lnTo>
                    <a:pt x="335978" y="126"/>
                  </a:lnTo>
                  <a:lnTo>
                    <a:pt x="325437" y="0"/>
                  </a:lnTo>
                </a:path>
                <a:path w="455930" h="391794">
                  <a:moveTo>
                    <a:pt x="325297" y="391667"/>
                  </a:moveTo>
                  <a:lnTo>
                    <a:pt x="111074" y="391667"/>
                  </a:lnTo>
                </a:path>
              </a:pathLst>
            </a:custGeom>
            <a:ln w="201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095750" y="1557661"/>
            <a:ext cx="455930" cy="441325"/>
          </a:xfrm>
          <a:custGeom>
            <a:avLst/>
            <a:gdLst/>
            <a:ahLst/>
            <a:cxnLst/>
            <a:rect l="l" t="t" r="r" b="b"/>
            <a:pathLst>
              <a:path w="455929" h="441325">
                <a:moveTo>
                  <a:pt x="379095" y="307339"/>
                </a:moveTo>
                <a:lnTo>
                  <a:pt x="425069" y="281813"/>
                </a:lnTo>
              </a:path>
              <a:path w="455929" h="441325">
                <a:moveTo>
                  <a:pt x="425450" y="441198"/>
                </a:moveTo>
                <a:lnTo>
                  <a:pt x="425069" y="281813"/>
                </a:lnTo>
              </a:path>
              <a:path w="455929" h="441325">
                <a:moveTo>
                  <a:pt x="395350" y="441325"/>
                </a:moveTo>
                <a:lnTo>
                  <a:pt x="455422" y="441198"/>
                </a:lnTo>
              </a:path>
              <a:path w="455929" h="441325">
                <a:moveTo>
                  <a:pt x="338709" y="0"/>
                </a:moveTo>
                <a:lnTo>
                  <a:pt x="2032" y="434975"/>
                </a:lnTo>
              </a:path>
              <a:path w="455929" h="441325">
                <a:moveTo>
                  <a:pt x="0" y="1524"/>
                </a:moveTo>
                <a:lnTo>
                  <a:pt x="338327" y="434848"/>
                </a:lnTo>
              </a:path>
            </a:pathLst>
          </a:custGeom>
          <a:ln w="201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59629" y="1818386"/>
            <a:ext cx="141605" cy="25400"/>
          </a:xfrm>
          <a:custGeom>
            <a:avLst/>
            <a:gdLst/>
            <a:ahLst/>
            <a:cxnLst/>
            <a:rect l="l" t="t" r="r" b="b"/>
            <a:pathLst>
              <a:path w="141604" h="25400">
                <a:moveTo>
                  <a:pt x="0" y="6096"/>
                </a:moveTo>
                <a:lnTo>
                  <a:pt x="10286" y="3810"/>
                </a:lnTo>
                <a:lnTo>
                  <a:pt x="20193" y="2032"/>
                </a:lnTo>
                <a:lnTo>
                  <a:pt x="29209" y="762"/>
                </a:lnTo>
                <a:lnTo>
                  <a:pt x="36575" y="0"/>
                </a:lnTo>
                <a:lnTo>
                  <a:pt x="45084" y="254"/>
                </a:lnTo>
                <a:lnTo>
                  <a:pt x="96139" y="11811"/>
                </a:lnTo>
                <a:lnTo>
                  <a:pt x="109727" y="17018"/>
                </a:lnTo>
                <a:lnTo>
                  <a:pt x="120142" y="21082"/>
                </a:lnTo>
                <a:lnTo>
                  <a:pt x="127126" y="22733"/>
                </a:lnTo>
                <a:lnTo>
                  <a:pt x="134111" y="24130"/>
                </a:lnTo>
                <a:lnTo>
                  <a:pt x="141097" y="25019"/>
                </a:lnTo>
              </a:path>
            </a:pathLst>
          </a:custGeom>
          <a:ln w="20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026" y="1814572"/>
            <a:ext cx="73270" cy="786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04759" y="1925877"/>
            <a:ext cx="253568" cy="645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552637" y="1565984"/>
            <a:ext cx="440690" cy="412750"/>
            <a:chOff x="7552637" y="1565984"/>
            <a:chExt cx="440690" cy="412750"/>
          </a:xfrm>
        </p:grpSpPr>
        <p:sp>
          <p:nvSpPr>
            <p:cNvPr id="12" name="object 12"/>
            <p:cNvSpPr/>
            <p:nvPr/>
          </p:nvSpPr>
          <p:spPr>
            <a:xfrm>
              <a:off x="7562723" y="1575943"/>
              <a:ext cx="357505" cy="320040"/>
            </a:xfrm>
            <a:custGeom>
              <a:avLst/>
              <a:gdLst/>
              <a:ahLst/>
              <a:cxnLst/>
              <a:rect l="l" t="t" r="r" b="b"/>
              <a:pathLst>
                <a:path w="357504" h="320039">
                  <a:moveTo>
                    <a:pt x="356361" y="126"/>
                  </a:moveTo>
                  <a:lnTo>
                    <a:pt x="89916" y="762"/>
                  </a:lnTo>
                </a:path>
                <a:path w="357504" h="320039">
                  <a:moveTo>
                    <a:pt x="257555" y="0"/>
                  </a:moveTo>
                  <a:lnTo>
                    <a:pt x="257428" y="81787"/>
                  </a:lnTo>
                </a:path>
                <a:path w="357504" h="320039">
                  <a:moveTo>
                    <a:pt x="257428" y="81787"/>
                  </a:moveTo>
                  <a:lnTo>
                    <a:pt x="224281" y="66293"/>
                  </a:lnTo>
                </a:path>
                <a:path w="357504" h="320039">
                  <a:moveTo>
                    <a:pt x="224281" y="66293"/>
                  </a:moveTo>
                  <a:lnTo>
                    <a:pt x="189229" y="81914"/>
                  </a:lnTo>
                </a:path>
                <a:path w="357504" h="320039">
                  <a:moveTo>
                    <a:pt x="189229" y="81914"/>
                  </a:moveTo>
                  <a:lnTo>
                    <a:pt x="188975" y="126"/>
                  </a:lnTo>
                </a:path>
                <a:path w="357504" h="320039">
                  <a:moveTo>
                    <a:pt x="91440" y="250316"/>
                  </a:moveTo>
                  <a:lnTo>
                    <a:pt x="89916" y="762"/>
                  </a:lnTo>
                </a:path>
                <a:path w="357504" h="320039">
                  <a:moveTo>
                    <a:pt x="0" y="269239"/>
                  </a:moveTo>
                  <a:lnTo>
                    <a:pt x="96900" y="248538"/>
                  </a:lnTo>
                </a:path>
                <a:path w="357504" h="320039">
                  <a:moveTo>
                    <a:pt x="176656" y="318007"/>
                  </a:moveTo>
                  <a:lnTo>
                    <a:pt x="281940" y="319786"/>
                  </a:lnTo>
                </a:path>
                <a:path w="357504" h="320039">
                  <a:moveTo>
                    <a:pt x="356361" y="126"/>
                  </a:moveTo>
                  <a:lnTo>
                    <a:pt x="356997" y="243712"/>
                  </a:lnTo>
                </a:path>
              </a:pathLst>
            </a:custGeom>
            <a:ln w="201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0688" y="1823758"/>
              <a:ext cx="202539" cy="1545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570597" y="1936877"/>
              <a:ext cx="44450" cy="8255"/>
            </a:xfrm>
            <a:custGeom>
              <a:avLst/>
              <a:gdLst/>
              <a:ahLst/>
              <a:cxnLst/>
              <a:rect l="l" t="t" r="r" b="b"/>
              <a:pathLst>
                <a:path w="44450" h="8255">
                  <a:moveTo>
                    <a:pt x="44323" y="0"/>
                  </a:moveTo>
                  <a:lnTo>
                    <a:pt x="0" y="7873"/>
                  </a:lnTo>
                </a:path>
              </a:pathLst>
            </a:custGeom>
            <a:ln w="201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43953" y="417420"/>
            <a:ext cx="10968962" cy="751213"/>
          </a:xfrm>
          <a:prstGeom prst="rect">
            <a:avLst/>
          </a:prstGeom>
        </p:spPr>
        <p:txBody>
          <a:bodyPr vert="horz" wrap="square" lIns="0" tIns="233408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160" dirty="0">
                <a:solidFill>
                  <a:srgbClr val="F888C6"/>
                </a:solidFill>
              </a:rPr>
              <a:t>Key</a:t>
            </a:r>
            <a:r>
              <a:rPr spc="10" dirty="0">
                <a:solidFill>
                  <a:srgbClr val="F888C6"/>
                </a:solidFill>
              </a:rPr>
              <a:t> </a:t>
            </a:r>
            <a:r>
              <a:rPr spc="130" dirty="0">
                <a:solidFill>
                  <a:srgbClr val="F888C6"/>
                </a:solidFill>
              </a:rPr>
              <a:t>Insights</a:t>
            </a:r>
            <a:r>
              <a:rPr spc="35" dirty="0">
                <a:solidFill>
                  <a:srgbClr val="F888C6"/>
                </a:solidFill>
              </a:rPr>
              <a:t> </a:t>
            </a:r>
            <a:r>
              <a:rPr spc="140" dirty="0">
                <a:solidFill>
                  <a:srgbClr val="F888C6"/>
                </a:solidFill>
              </a:rPr>
              <a:t>Uncovered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4642" y="2075094"/>
            <a:ext cx="3013075" cy="13063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145400"/>
              </a:lnSpc>
              <a:spcBef>
                <a:spcPts val="295"/>
              </a:spcBef>
            </a:pPr>
            <a:r>
              <a:rPr sz="1650" dirty="0">
                <a:solidFill>
                  <a:srgbClr val="D5E4EE"/>
                </a:solidFill>
                <a:latin typeface="Cambria"/>
                <a:cs typeface="Cambria"/>
              </a:rPr>
              <a:t>Clothing</a:t>
            </a:r>
            <a:r>
              <a:rPr sz="1650" spc="390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D5E4EE"/>
                </a:solidFill>
                <a:latin typeface="Cambria"/>
                <a:cs typeface="Cambria"/>
              </a:rPr>
              <a:t>Category</a:t>
            </a:r>
            <a:r>
              <a:rPr sz="1650" spc="38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Cambria"/>
                <a:cs typeface="Cambria"/>
              </a:rPr>
              <a:t>Dominance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Clothing</a:t>
            </a:r>
            <a:r>
              <a:rPr sz="140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category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generated</a:t>
            </a:r>
            <a:r>
              <a:rPr sz="140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highest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revenue,</a:t>
            </a:r>
            <a:r>
              <a:rPr sz="1400" spc="-6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outperforming</a:t>
            </a:r>
            <a:r>
              <a:rPr sz="140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other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product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lines</a:t>
            </a:r>
            <a:r>
              <a:rPr sz="1400" spc="-1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significantly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85082" y="2213616"/>
            <a:ext cx="3098800" cy="1219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60" dirty="0">
                <a:solidFill>
                  <a:srgbClr val="D5E4EE"/>
                </a:solidFill>
                <a:latin typeface="Cambria"/>
                <a:cs typeface="Cambria"/>
              </a:rPr>
              <a:t>Subscription</a:t>
            </a:r>
            <a:r>
              <a:rPr sz="1650" spc="240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D5E4EE"/>
                </a:solidFill>
                <a:latin typeface="Cambria"/>
                <a:cs typeface="Cambria"/>
              </a:rPr>
              <a:t>Impact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9300"/>
              </a:lnSpc>
              <a:spcBef>
                <a:spcPts val="395"/>
              </a:spcBef>
            </a:pP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Subscribers</a:t>
            </a:r>
            <a:r>
              <a:rPr sz="14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vs</a:t>
            </a:r>
            <a:r>
              <a:rPr sz="14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non-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subscribers</a:t>
            </a:r>
            <a:r>
              <a:rPr sz="14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spending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comparison</a:t>
            </a:r>
            <a:r>
              <a:rPr sz="14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revealed</a:t>
            </a:r>
            <a:r>
              <a:rPr sz="1400" spc="-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clear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patterns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in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purchase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behavior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4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value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48498" y="2075094"/>
            <a:ext cx="2947670" cy="13063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145400"/>
              </a:lnSpc>
              <a:spcBef>
                <a:spcPts val="295"/>
              </a:spcBef>
            </a:pPr>
            <a:r>
              <a:rPr sz="1650" dirty="0">
                <a:solidFill>
                  <a:srgbClr val="D5E4EE"/>
                </a:solidFill>
                <a:latin typeface="Cambria"/>
                <a:cs typeface="Cambria"/>
              </a:rPr>
              <a:t>Express</a:t>
            </a:r>
            <a:r>
              <a:rPr sz="1650" spc="14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D5E4EE"/>
                </a:solidFill>
                <a:latin typeface="Cambria"/>
                <a:cs typeface="Cambria"/>
              </a:rPr>
              <a:t>Shipping</a:t>
            </a:r>
            <a:r>
              <a:rPr sz="1650" spc="12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Cambria"/>
                <a:cs typeface="Cambria"/>
              </a:rPr>
              <a:t>Premium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Express</a:t>
            </a:r>
            <a:r>
              <a:rPr sz="1400" spc="-1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shipping</a:t>
            </a:r>
            <a:r>
              <a:rPr sz="1400" spc="-1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users</a:t>
            </a:r>
            <a:r>
              <a:rPr sz="1400" spc="-1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showed</a:t>
            </a:r>
            <a:r>
              <a:rPr sz="1400" spc="-1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slightly higher</a:t>
            </a:r>
            <a:r>
              <a:rPr sz="1400" spc="-1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purchase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values,</a:t>
            </a:r>
            <a:r>
              <a:rPr sz="1400" spc="-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indicating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willingness</a:t>
            </a:r>
            <a:r>
              <a:rPr sz="1400" spc="-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to</a:t>
            </a:r>
            <a:r>
              <a:rPr sz="14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pay</a:t>
            </a:r>
            <a:r>
              <a:rPr sz="14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more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636" y="4530984"/>
            <a:ext cx="3218180" cy="917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60" dirty="0">
                <a:solidFill>
                  <a:srgbClr val="D5E4EE"/>
                </a:solidFill>
                <a:latin typeface="Cambria"/>
                <a:cs typeface="Cambria"/>
              </a:rPr>
              <a:t>Loyal</a:t>
            </a:r>
            <a:r>
              <a:rPr sz="1650" spc="15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D5E4EE"/>
                </a:solidFill>
                <a:latin typeface="Cambria"/>
                <a:cs typeface="Cambria"/>
              </a:rPr>
              <a:t>Customer</a:t>
            </a:r>
            <a:r>
              <a:rPr sz="1650" spc="145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D5E4EE"/>
                </a:solidFill>
                <a:latin typeface="Cambria"/>
                <a:cs typeface="Cambria"/>
              </a:rPr>
              <a:t>Base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900"/>
              </a:lnSpc>
              <a:spcBef>
                <a:spcPts val="575"/>
              </a:spcBef>
            </a:pP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Loyal</a:t>
            </a:r>
            <a:r>
              <a:rPr sz="1400" spc="-1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customers</a:t>
            </a:r>
            <a:r>
              <a:rPr sz="1400" spc="-1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form</a:t>
            </a:r>
            <a:r>
              <a:rPr sz="1400" spc="-1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the</a:t>
            </a:r>
            <a:r>
              <a:rPr sz="1400" spc="-1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largest</a:t>
            </a:r>
            <a:r>
              <a:rPr sz="1400" spc="-1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segment,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representing</a:t>
            </a:r>
            <a:r>
              <a:rPr sz="1400" spc="-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stable</a:t>
            </a:r>
            <a:r>
              <a:rPr sz="14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D5E4EE"/>
                </a:solidFill>
                <a:latin typeface="Trebuchet MS"/>
                <a:cs typeface="Trebuchet MS"/>
              </a:rPr>
              <a:t>revenue</a:t>
            </a: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stream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8129" y="4530984"/>
            <a:ext cx="3035300" cy="1213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70" dirty="0">
                <a:solidFill>
                  <a:srgbClr val="D5E4EE"/>
                </a:solidFill>
                <a:latin typeface="Cambria"/>
                <a:cs typeface="Cambria"/>
              </a:rPr>
              <a:t>Discount</a:t>
            </a:r>
            <a:r>
              <a:rPr sz="1650" spc="210" dirty="0">
                <a:solidFill>
                  <a:srgbClr val="D5E4EE"/>
                </a:solidFill>
                <a:latin typeface="Cambria"/>
                <a:cs typeface="Cambria"/>
              </a:rPr>
              <a:t> </a:t>
            </a:r>
            <a:r>
              <a:rPr sz="1650" spc="105" dirty="0">
                <a:solidFill>
                  <a:srgbClr val="D5E4EE"/>
                </a:solidFill>
                <a:latin typeface="Cambria"/>
                <a:cs typeface="Cambria"/>
              </a:rPr>
              <a:t>Dependency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800"/>
              </a:lnSpc>
              <a:spcBef>
                <a:spcPts val="525"/>
              </a:spcBef>
            </a:pPr>
            <a:r>
              <a:rPr sz="1400" spc="-35" dirty="0">
                <a:solidFill>
                  <a:srgbClr val="D5E4EE"/>
                </a:solidFill>
                <a:latin typeface="Trebuchet MS"/>
                <a:cs typeface="Trebuchet MS"/>
              </a:rPr>
              <a:t>Some</a:t>
            </a:r>
            <a:r>
              <a:rPr sz="140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products</a:t>
            </a:r>
            <a:r>
              <a:rPr sz="1400" spc="-1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5E4EE"/>
                </a:solidFill>
                <a:latin typeface="Trebuchet MS"/>
                <a:cs typeface="Trebuchet MS"/>
              </a:rPr>
              <a:t>rely</a:t>
            </a:r>
            <a:r>
              <a:rPr sz="1400" spc="-1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heavily</a:t>
            </a:r>
            <a:r>
              <a:rPr sz="1400" spc="-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5E4EE"/>
                </a:solidFill>
                <a:latin typeface="Trebuchet MS"/>
                <a:cs typeface="Trebuchet MS"/>
              </a:rPr>
              <a:t>on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discount-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based</a:t>
            </a:r>
            <a:r>
              <a:rPr sz="14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purchases,</a:t>
            </a:r>
            <a:r>
              <a:rPr sz="14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5E4EE"/>
                </a:solidFill>
                <a:latin typeface="Trebuchet MS"/>
                <a:cs typeface="Trebuchet MS"/>
              </a:rPr>
              <a:t>suggesting</a:t>
            </a:r>
            <a:r>
              <a:rPr sz="14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pricing strategy</a:t>
            </a:r>
            <a:r>
              <a:rPr sz="14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5E4EE"/>
                </a:solidFill>
                <a:latin typeface="Trebuchet MS"/>
                <a:cs typeface="Trebuchet MS"/>
              </a:rPr>
              <a:t>opportunities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81" y="3852405"/>
            <a:ext cx="461009" cy="47092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4104588" y="3834580"/>
            <a:ext cx="475615" cy="476250"/>
            <a:chOff x="4104582" y="3834580"/>
            <a:chExt cx="475615" cy="476250"/>
          </a:xfrm>
        </p:grpSpPr>
        <p:sp>
          <p:nvSpPr>
            <p:cNvPr id="23" name="object 23"/>
            <p:cNvSpPr/>
            <p:nvPr/>
          </p:nvSpPr>
          <p:spPr>
            <a:xfrm>
              <a:off x="4114673" y="3844671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383159" y="92329"/>
                  </a:moveTo>
                  <a:lnTo>
                    <a:pt x="343788" y="34290"/>
                  </a:lnTo>
                  <a:lnTo>
                    <a:pt x="338581" y="33909"/>
                  </a:lnTo>
                  <a:lnTo>
                    <a:pt x="328294" y="34417"/>
                  </a:lnTo>
                  <a:lnTo>
                    <a:pt x="315340" y="36449"/>
                  </a:lnTo>
                  <a:lnTo>
                    <a:pt x="306450" y="37592"/>
                  </a:lnTo>
                  <a:lnTo>
                    <a:pt x="300227" y="38100"/>
                  </a:lnTo>
                  <a:lnTo>
                    <a:pt x="295401" y="38226"/>
                  </a:lnTo>
                  <a:lnTo>
                    <a:pt x="289051" y="36830"/>
                  </a:lnTo>
                  <a:lnTo>
                    <a:pt x="283844" y="34671"/>
                  </a:lnTo>
                  <a:lnTo>
                    <a:pt x="277749" y="30734"/>
                  </a:lnTo>
                  <a:lnTo>
                    <a:pt x="260223" y="16256"/>
                  </a:lnTo>
                  <a:lnTo>
                    <a:pt x="248665" y="7493"/>
                  </a:lnTo>
                  <a:lnTo>
                    <a:pt x="241046" y="2921"/>
                  </a:lnTo>
                  <a:lnTo>
                    <a:pt x="235076" y="635"/>
                  </a:lnTo>
                  <a:lnTo>
                    <a:pt x="227711" y="0"/>
                  </a:lnTo>
                  <a:lnTo>
                    <a:pt x="221234" y="507"/>
                  </a:lnTo>
                  <a:lnTo>
                    <a:pt x="190753" y="20066"/>
                  </a:lnTo>
                  <a:lnTo>
                    <a:pt x="183006" y="26543"/>
                  </a:lnTo>
                  <a:lnTo>
                    <a:pt x="153924" y="38354"/>
                  </a:lnTo>
                  <a:lnTo>
                    <a:pt x="147319" y="37465"/>
                  </a:lnTo>
                  <a:lnTo>
                    <a:pt x="137287" y="35813"/>
                  </a:lnTo>
                  <a:lnTo>
                    <a:pt x="126746" y="34290"/>
                  </a:lnTo>
                  <a:lnTo>
                    <a:pt x="118999" y="33274"/>
                  </a:lnTo>
                  <a:lnTo>
                    <a:pt x="113664" y="33528"/>
                  </a:lnTo>
                  <a:lnTo>
                    <a:pt x="106806" y="34543"/>
                  </a:lnTo>
                  <a:lnTo>
                    <a:pt x="79628" y="66421"/>
                  </a:lnTo>
                  <a:lnTo>
                    <a:pt x="76326" y="80010"/>
                  </a:lnTo>
                  <a:lnTo>
                    <a:pt x="73787" y="88646"/>
                  </a:lnTo>
                  <a:lnTo>
                    <a:pt x="37973" y="119125"/>
                  </a:lnTo>
                  <a:lnTo>
                    <a:pt x="30479" y="123443"/>
                  </a:lnTo>
                  <a:lnTo>
                    <a:pt x="8636" y="153797"/>
                  </a:lnTo>
                  <a:lnTo>
                    <a:pt x="8762" y="160019"/>
                  </a:lnTo>
                  <a:lnTo>
                    <a:pt x="10413" y="168782"/>
                  </a:lnTo>
                  <a:lnTo>
                    <a:pt x="16510" y="187579"/>
                  </a:lnTo>
                  <a:lnTo>
                    <a:pt x="19938" y="199390"/>
                  </a:lnTo>
                  <a:lnTo>
                    <a:pt x="21589" y="206756"/>
                  </a:lnTo>
                  <a:lnTo>
                    <a:pt x="22098" y="212344"/>
                  </a:lnTo>
                  <a:lnTo>
                    <a:pt x="20954" y="216154"/>
                  </a:lnTo>
                  <a:lnTo>
                    <a:pt x="18796" y="222123"/>
                  </a:lnTo>
                  <a:lnTo>
                    <a:pt x="14604" y="231140"/>
                  </a:lnTo>
                  <a:lnTo>
                    <a:pt x="7874" y="244348"/>
                  </a:lnTo>
                  <a:lnTo>
                    <a:pt x="4190" y="252856"/>
                  </a:lnTo>
                  <a:lnTo>
                    <a:pt x="2031" y="259206"/>
                  </a:lnTo>
                  <a:lnTo>
                    <a:pt x="762" y="264160"/>
                  </a:lnTo>
                  <a:lnTo>
                    <a:pt x="0" y="268605"/>
                  </a:lnTo>
                  <a:lnTo>
                    <a:pt x="126" y="272923"/>
                  </a:lnTo>
                  <a:lnTo>
                    <a:pt x="25018" y="307467"/>
                  </a:lnTo>
                  <a:lnTo>
                    <a:pt x="33274" y="314071"/>
                  </a:lnTo>
                  <a:lnTo>
                    <a:pt x="38607" y="318388"/>
                  </a:lnTo>
                  <a:lnTo>
                    <a:pt x="52197" y="354330"/>
                  </a:lnTo>
                  <a:lnTo>
                    <a:pt x="53339" y="367284"/>
                  </a:lnTo>
                  <a:lnTo>
                    <a:pt x="55117" y="376681"/>
                  </a:lnTo>
                  <a:lnTo>
                    <a:pt x="82168" y="403860"/>
                  </a:lnTo>
                  <a:lnTo>
                    <a:pt x="103377" y="406400"/>
                  </a:lnTo>
                  <a:lnTo>
                    <a:pt x="115442" y="407797"/>
                  </a:lnTo>
                  <a:lnTo>
                    <a:pt x="151129" y="433959"/>
                  </a:lnTo>
                  <a:lnTo>
                    <a:pt x="159257" y="443103"/>
                  </a:lnTo>
                  <a:lnTo>
                    <a:pt x="183006" y="455675"/>
                  </a:lnTo>
                  <a:lnTo>
                    <a:pt x="189611" y="455168"/>
                  </a:lnTo>
                  <a:lnTo>
                    <a:pt x="194437" y="453771"/>
                  </a:lnTo>
                  <a:lnTo>
                    <a:pt x="200278" y="451357"/>
                  </a:lnTo>
                  <a:lnTo>
                    <a:pt x="210692" y="446278"/>
                  </a:lnTo>
                  <a:lnTo>
                    <a:pt x="217931" y="443103"/>
                  </a:lnTo>
                  <a:lnTo>
                    <a:pt x="223012" y="441325"/>
                  </a:lnTo>
                  <a:lnTo>
                    <a:pt x="227075" y="440563"/>
                  </a:lnTo>
                  <a:lnTo>
                    <a:pt x="230504" y="441198"/>
                  </a:lnTo>
                  <a:lnTo>
                    <a:pt x="235457" y="442849"/>
                  </a:lnTo>
                  <a:lnTo>
                    <a:pt x="243331" y="446150"/>
                  </a:lnTo>
                  <a:lnTo>
                    <a:pt x="255650" y="451866"/>
                  </a:lnTo>
                  <a:lnTo>
                    <a:pt x="263905" y="454787"/>
                  </a:lnTo>
                  <a:lnTo>
                    <a:pt x="268097" y="455422"/>
                  </a:lnTo>
                  <a:lnTo>
                    <a:pt x="272414" y="455675"/>
                  </a:lnTo>
                  <a:lnTo>
                    <a:pt x="276478" y="455168"/>
                  </a:lnTo>
                  <a:lnTo>
                    <a:pt x="311023" y="424942"/>
                  </a:lnTo>
                  <a:lnTo>
                    <a:pt x="314832" y="419988"/>
                  </a:lnTo>
                  <a:lnTo>
                    <a:pt x="351281" y="406526"/>
                  </a:lnTo>
                  <a:lnTo>
                    <a:pt x="364616" y="404749"/>
                  </a:lnTo>
                  <a:lnTo>
                    <a:pt x="374396" y="403225"/>
                  </a:lnTo>
                  <a:lnTo>
                    <a:pt x="401574" y="370713"/>
                  </a:lnTo>
                  <a:lnTo>
                    <a:pt x="403860" y="352298"/>
                  </a:lnTo>
                  <a:lnTo>
                    <a:pt x="405638" y="340868"/>
                  </a:lnTo>
                  <a:lnTo>
                    <a:pt x="440054" y="299466"/>
                  </a:lnTo>
                  <a:lnTo>
                    <a:pt x="445007" y="294767"/>
                  </a:lnTo>
                  <a:lnTo>
                    <a:pt x="455422" y="269748"/>
                  </a:lnTo>
                  <a:lnTo>
                    <a:pt x="454405" y="261747"/>
                  </a:lnTo>
                  <a:lnTo>
                    <a:pt x="452119" y="254000"/>
                  </a:lnTo>
                  <a:lnTo>
                    <a:pt x="448563" y="245872"/>
                  </a:lnTo>
                  <a:lnTo>
                    <a:pt x="442975" y="235585"/>
                  </a:lnTo>
                  <a:lnTo>
                    <a:pt x="439038" y="228092"/>
                  </a:lnTo>
                  <a:lnTo>
                    <a:pt x="436372" y="222376"/>
                  </a:lnTo>
                  <a:lnTo>
                    <a:pt x="434466" y="217550"/>
                  </a:lnTo>
                  <a:lnTo>
                    <a:pt x="433577" y="212090"/>
                  </a:lnTo>
                  <a:lnTo>
                    <a:pt x="433704" y="205867"/>
                  </a:lnTo>
                  <a:lnTo>
                    <a:pt x="434848" y="199771"/>
                  </a:lnTo>
                  <a:lnTo>
                    <a:pt x="437006" y="193548"/>
                  </a:lnTo>
                  <a:lnTo>
                    <a:pt x="440309" y="183769"/>
                  </a:lnTo>
                  <a:lnTo>
                    <a:pt x="443864" y="173228"/>
                  </a:lnTo>
                  <a:lnTo>
                    <a:pt x="446531" y="164211"/>
                  </a:lnTo>
                  <a:lnTo>
                    <a:pt x="447293" y="157861"/>
                  </a:lnTo>
                  <a:lnTo>
                    <a:pt x="447293" y="153669"/>
                  </a:lnTo>
                  <a:lnTo>
                    <a:pt x="422782" y="122047"/>
                  </a:lnTo>
                  <a:lnTo>
                    <a:pt x="402463" y="110871"/>
                  </a:lnTo>
                  <a:lnTo>
                    <a:pt x="395097" y="106680"/>
                  </a:lnTo>
                  <a:lnTo>
                    <a:pt x="391032" y="103378"/>
                  </a:lnTo>
                  <a:lnTo>
                    <a:pt x="387350" y="99313"/>
                  </a:lnTo>
                  <a:lnTo>
                    <a:pt x="384175" y="94742"/>
                  </a:lnTo>
                  <a:lnTo>
                    <a:pt x="383159" y="92329"/>
                  </a:lnTo>
                </a:path>
              </a:pathLst>
            </a:custGeom>
            <a:ln w="20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33164" y="3967441"/>
              <a:ext cx="216547" cy="218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" y="133392"/>
            <a:ext cx="11429365" cy="6171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95340" y="3822065"/>
            <a:ext cx="274320" cy="236220"/>
          </a:xfrm>
          <a:custGeom>
            <a:avLst/>
            <a:gdLst/>
            <a:ahLst/>
            <a:cxnLst/>
            <a:rect l="l" t="t" r="r" b="b"/>
            <a:pathLst>
              <a:path w="274320" h="236220">
                <a:moveTo>
                  <a:pt x="159258" y="0"/>
                </a:moveTo>
                <a:lnTo>
                  <a:pt x="153035" y="0"/>
                </a:lnTo>
                <a:lnTo>
                  <a:pt x="145542" y="7619"/>
                </a:lnTo>
                <a:lnTo>
                  <a:pt x="145542" y="13842"/>
                </a:lnTo>
                <a:lnTo>
                  <a:pt x="240030" y="108330"/>
                </a:lnTo>
                <a:lnTo>
                  <a:pt x="4445" y="108330"/>
                </a:lnTo>
                <a:lnTo>
                  <a:pt x="0" y="112648"/>
                </a:lnTo>
                <a:lnTo>
                  <a:pt x="0" y="123443"/>
                </a:lnTo>
                <a:lnTo>
                  <a:pt x="4445" y="127761"/>
                </a:lnTo>
                <a:lnTo>
                  <a:pt x="240030" y="127761"/>
                </a:lnTo>
                <a:lnTo>
                  <a:pt x="145542" y="222249"/>
                </a:lnTo>
                <a:lnTo>
                  <a:pt x="145542" y="228472"/>
                </a:lnTo>
                <a:lnTo>
                  <a:pt x="153035" y="236092"/>
                </a:lnTo>
                <a:lnTo>
                  <a:pt x="159258" y="236092"/>
                </a:lnTo>
                <a:lnTo>
                  <a:pt x="274193" y="121157"/>
                </a:lnTo>
                <a:lnTo>
                  <a:pt x="274193" y="114934"/>
                </a:lnTo>
                <a:lnTo>
                  <a:pt x="159258" y="0"/>
                </a:lnTo>
                <a:close/>
              </a:path>
            </a:pathLst>
          </a:custGeom>
          <a:solidFill>
            <a:srgbClr val="D4E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3953" y="417420"/>
            <a:ext cx="10968962" cy="1098377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12700">
              <a:spcBef>
                <a:spcPts val="1764"/>
              </a:spcBef>
              <a:tabLst>
                <a:tab pos="2250440" algn="l"/>
                <a:tab pos="2716530" algn="l"/>
                <a:tab pos="4561205" algn="l"/>
              </a:tabLst>
            </a:pPr>
            <a:r>
              <a:rPr spc="65" dirty="0"/>
              <a:t>Dashboard</a:t>
            </a:r>
            <a:r>
              <a:rPr dirty="0"/>
              <a:t>	</a:t>
            </a:r>
            <a:r>
              <a:rPr spc="65" dirty="0"/>
              <a:t>&amp;</a:t>
            </a:r>
            <a:r>
              <a:rPr dirty="0"/>
              <a:t>	</a:t>
            </a:r>
            <a:r>
              <a:rPr spc="60" dirty="0"/>
              <a:t>Business</a:t>
            </a:r>
            <a:r>
              <a:rPr dirty="0"/>
              <a:t>	</a:t>
            </a:r>
            <a:r>
              <a:rPr spc="55" dirty="0"/>
              <a:t>Recommendations</a:t>
            </a:r>
          </a:p>
          <a:p>
            <a:pPr marL="12700">
              <a:spcBef>
                <a:spcPts val="825"/>
              </a:spcBef>
            </a:pPr>
            <a:r>
              <a:rPr sz="1650" spc="80" dirty="0"/>
              <a:t>Power</a:t>
            </a:r>
            <a:r>
              <a:rPr sz="1650" dirty="0"/>
              <a:t> </a:t>
            </a:r>
            <a:r>
              <a:rPr sz="1650" spc="75" dirty="0"/>
              <a:t>BI</a:t>
            </a:r>
            <a:r>
              <a:rPr sz="1650" spc="20" dirty="0"/>
              <a:t> </a:t>
            </a:r>
            <a:r>
              <a:rPr sz="1650" spc="80" dirty="0"/>
              <a:t>Dashboard</a:t>
            </a:r>
            <a:r>
              <a:rPr sz="1650" spc="-5" dirty="0"/>
              <a:t> </a:t>
            </a:r>
            <a:r>
              <a:rPr sz="1650" spc="40" dirty="0"/>
              <a:t>Highlights</a:t>
            </a:r>
            <a:endParaRPr sz="1650"/>
          </a:p>
        </p:txBody>
      </p:sp>
      <p:sp>
        <p:nvSpPr>
          <p:cNvPr id="5" name="object 5"/>
          <p:cNvSpPr txBox="1"/>
          <p:nvPr/>
        </p:nvSpPr>
        <p:spPr>
          <a:xfrm>
            <a:off x="1420119" y="1786585"/>
            <a:ext cx="1641475" cy="1192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785" algn="ctr">
              <a:spcBef>
                <a:spcPts val="105"/>
              </a:spcBef>
            </a:pPr>
            <a:r>
              <a:rPr sz="4700" spc="185" dirty="0">
                <a:solidFill>
                  <a:srgbClr val="D4E3EE"/>
                </a:solidFill>
                <a:latin typeface="Cambria"/>
                <a:cs typeface="Cambria"/>
              </a:rPr>
              <a:t>3.9K</a:t>
            </a:r>
            <a:endParaRPr sz="4700">
              <a:latin typeface="Cambria"/>
              <a:cs typeface="Cambria"/>
            </a:endParaRPr>
          </a:p>
          <a:p>
            <a:pPr algn="ctr">
              <a:spcBef>
                <a:spcPts val="1560"/>
              </a:spcBef>
            </a:pPr>
            <a:r>
              <a:rPr sz="1650" spc="65" dirty="0">
                <a:solidFill>
                  <a:srgbClr val="D4E3EE"/>
                </a:solidFill>
                <a:latin typeface="Cambria"/>
                <a:cs typeface="Cambria"/>
              </a:rPr>
              <a:t>Total</a:t>
            </a:r>
            <a:r>
              <a:rPr sz="1650" spc="45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D4E3EE"/>
                </a:solidFill>
                <a:latin typeface="Cambria"/>
                <a:cs typeface="Cambria"/>
              </a:rPr>
              <a:t>Customers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642" y="3247142"/>
            <a:ext cx="2780665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60" dirty="0">
                <a:solidFill>
                  <a:srgbClr val="F889C6"/>
                </a:solidFill>
                <a:latin typeface="Cambria"/>
                <a:cs typeface="Cambria"/>
              </a:rPr>
              <a:t>Strategic</a:t>
            </a:r>
            <a:r>
              <a:rPr sz="1650" spc="55" dirty="0">
                <a:solidFill>
                  <a:srgbClr val="F889C6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F889C6"/>
                </a:solidFill>
                <a:latin typeface="Cambria"/>
                <a:cs typeface="Cambria"/>
              </a:rPr>
              <a:t>Recommendations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1558" y="1786585"/>
            <a:ext cx="1330325" cy="1192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4700" spc="80" dirty="0">
                <a:solidFill>
                  <a:srgbClr val="D4E3EE"/>
                </a:solidFill>
                <a:latin typeface="Cambria"/>
                <a:cs typeface="Cambria"/>
              </a:rPr>
              <a:t>$59</a:t>
            </a:r>
            <a:endParaRPr sz="4700">
              <a:latin typeface="Cambria"/>
              <a:cs typeface="Cambria"/>
            </a:endParaRPr>
          </a:p>
          <a:p>
            <a:pPr algn="ctr">
              <a:spcBef>
                <a:spcPts val="1560"/>
              </a:spcBef>
            </a:pPr>
            <a:r>
              <a:rPr sz="1650" spc="60" dirty="0">
                <a:solidFill>
                  <a:srgbClr val="D4E3EE"/>
                </a:solidFill>
                <a:latin typeface="Cambria"/>
                <a:cs typeface="Cambria"/>
              </a:rPr>
              <a:t>Avg</a:t>
            </a:r>
            <a:r>
              <a:rPr sz="1650" spc="-35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D4E3EE"/>
                </a:solidFill>
                <a:latin typeface="Cambria"/>
                <a:cs typeface="Cambria"/>
              </a:rPr>
              <a:t>Purchase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2505" y="1786585"/>
            <a:ext cx="1134110" cy="1192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700" spc="-20" dirty="0">
                <a:solidFill>
                  <a:srgbClr val="D4E3EE"/>
                </a:solidFill>
                <a:latin typeface="Cambria"/>
                <a:cs typeface="Cambria"/>
              </a:rPr>
              <a:t>3.75</a:t>
            </a:r>
            <a:endParaRPr sz="4700">
              <a:latin typeface="Cambria"/>
              <a:cs typeface="Cambria"/>
            </a:endParaRPr>
          </a:p>
          <a:p>
            <a:pPr marL="42545">
              <a:spcBef>
                <a:spcPts val="1560"/>
              </a:spcBef>
            </a:pPr>
            <a:r>
              <a:rPr sz="1650" spc="60" dirty="0">
                <a:solidFill>
                  <a:srgbClr val="D4E3EE"/>
                </a:solidFill>
                <a:latin typeface="Cambria"/>
                <a:cs typeface="Cambria"/>
              </a:rPr>
              <a:t>Avg</a:t>
            </a:r>
            <a:r>
              <a:rPr sz="1650" spc="-35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D4E3EE"/>
                </a:solidFill>
                <a:latin typeface="Cambria"/>
                <a:cs typeface="Cambria"/>
              </a:rPr>
              <a:t>Rating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5948" y="3786891"/>
            <a:ext cx="4210050" cy="625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80" dirty="0">
                <a:solidFill>
                  <a:srgbClr val="D4E3EE"/>
                </a:solidFill>
                <a:latin typeface="Cambria"/>
                <a:cs typeface="Cambria"/>
              </a:rPr>
              <a:t>Promote</a:t>
            </a:r>
            <a:r>
              <a:rPr sz="1650" spc="130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D4E3EE"/>
                </a:solidFill>
                <a:latin typeface="Cambria"/>
                <a:cs typeface="Cambria"/>
              </a:rPr>
              <a:t>Subscription</a:t>
            </a:r>
            <a:r>
              <a:rPr sz="1650" spc="150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D4E3EE"/>
                </a:solidFill>
                <a:latin typeface="Cambria"/>
                <a:cs typeface="Cambria"/>
              </a:rPr>
              <a:t>Benefits</a:t>
            </a:r>
            <a:endParaRPr sz="1650">
              <a:latin typeface="Cambria"/>
              <a:cs typeface="Cambria"/>
            </a:endParaRPr>
          </a:p>
          <a:p>
            <a:pPr marL="12700">
              <a:spcBef>
                <a:spcPts val="1055"/>
              </a:spcBef>
            </a:pP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Highlight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value</a:t>
            </a:r>
            <a:r>
              <a:rPr sz="1400" spc="-7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proposition</a:t>
            </a:r>
            <a:r>
              <a:rPr sz="1400" spc="-7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4E3EE"/>
                </a:solidFill>
                <a:latin typeface="Trebuchet MS"/>
                <a:cs typeface="Trebuchet MS"/>
              </a:rPr>
              <a:t>to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increase</a:t>
            </a:r>
            <a:r>
              <a:rPr sz="1400" spc="-7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conversion</a:t>
            </a:r>
            <a:r>
              <a:rPr sz="1400" spc="-6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rates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8171" y="3786891"/>
            <a:ext cx="4210685" cy="625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70" dirty="0">
                <a:solidFill>
                  <a:srgbClr val="D4E3EE"/>
                </a:solidFill>
                <a:latin typeface="Cambria"/>
                <a:cs typeface="Cambria"/>
              </a:rPr>
              <a:t>Introduce </a:t>
            </a:r>
            <a:r>
              <a:rPr sz="1650" spc="60" dirty="0">
                <a:solidFill>
                  <a:srgbClr val="D4E3EE"/>
                </a:solidFill>
                <a:latin typeface="Cambria"/>
                <a:cs typeface="Cambria"/>
              </a:rPr>
              <a:t>Loyalty</a:t>
            </a:r>
            <a:r>
              <a:rPr sz="1650" spc="110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60" dirty="0">
                <a:solidFill>
                  <a:srgbClr val="D4E3EE"/>
                </a:solidFill>
                <a:latin typeface="Cambria"/>
                <a:cs typeface="Cambria"/>
              </a:rPr>
              <a:t>Programs</a:t>
            </a:r>
            <a:endParaRPr sz="1650">
              <a:latin typeface="Cambria"/>
              <a:cs typeface="Cambria"/>
            </a:endParaRPr>
          </a:p>
          <a:p>
            <a:pPr marL="12700">
              <a:spcBef>
                <a:spcPts val="1055"/>
              </a:spcBef>
            </a:pPr>
            <a:r>
              <a:rPr sz="1400" spc="-50" dirty="0">
                <a:solidFill>
                  <a:srgbClr val="D4E3EE"/>
                </a:solidFill>
                <a:latin typeface="Trebuchet MS"/>
                <a:cs typeface="Trebuchet MS"/>
              </a:rPr>
              <a:t>Develop</a:t>
            </a:r>
            <a:r>
              <a:rPr sz="1400" spc="-10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rewards</a:t>
            </a:r>
            <a:r>
              <a:rPr sz="1400" spc="-10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for</a:t>
            </a:r>
            <a:r>
              <a:rPr sz="1400" spc="-8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repeat</a:t>
            </a:r>
            <a:r>
              <a:rPr sz="1400" spc="-7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D4E3EE"/>
                </a:solidFill>
                <a:latin typeface="Trebuchet MS"/>
                <a:cs typeface="Trebuchet MS"/>
              </a:rPr>
              <a:t>buyers</a:t>
            </a:r>
            <a:r>
              <a:rPr sz="1400" spc="-10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4E3EE"/>
                </a:solidFill>
                <a:latin typeface="Trebuchet MS"/>
                <a:cs typeface="Trebuchet MS"/>
              </a:rPr>
              <a:t>to</a:t>
            </a:r>
            <a:r>
              <a:rPr sz="1400" spc="-10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enhance</a:t>
            </a:r>
            <a:r>
              <a:rPr sz="1400" spc="-11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retention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5948" y="4817751"/>
            <a:ext cx="4118610" cy="63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70" dirty="0">
                <a:solidFill>
                  <a:srgbClr val="D4E3EE"/>
                </a:solidFill>
                <a:latin typeface="Cambria"/>
                <a:cs typeface="Cambria"/>
              </a:rPr>
              <a:t>Optimize</a:t>
            </a:r>
            <a:r>
              <a:rPr sz="1650" spc="250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D4E3EE"/>
                </a:solidFill>
                <a:latin typeface="Cambria"/>
                <a:cs typeface="Cambria"/>
              </a:rPr>
              <a:t>Discount</a:t>
            </a:r>
            <a:r>
              <a:rPr sz="1650" spc="235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D4E3EE"/>
                </a:solidFill>
                <a:latin typeface="Cambria"/>
                <a:cs typeface="Cambria"/>
              </a:rPr>
              <a:t>Strategy</a:t>
            </a:r>
            <a:endParaRPr sz="1650">
              <a:latin typeface="Cambria"/>
              <a:cs typeface="Cambria"/>
            </a:endParaRPr>
          </a:p>
          <a:p>
            <a:pPr marL="12700">
              <a:spcBef>
                <a:spcPts val="1125"/>
              </a:spcBef>
            </a:pP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Balance</a:t>
            </a:r>
            <a:r>
              <a:rPr sz="1400" spc="-7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promotional</a:t>
            </a:r>
            <a:r>
              <a:rPr sz="1400" spc="-6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spending</a:t>
            </a:r>
            <a:r>
              <a:rPr sz="1400" spc="-8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with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margin</a:t>
            </a:r>
            <a:r>
              <a:rPr sz="1400" spc="-10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protection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8171" y="4817751"/>
            <a:ext cx="3736975" cy="917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70" dirty="0">
                <a:solidFill>
                  <a:srgbClr val="D4E3EE"/>
                </a:solidFill>
                <a:latin typeface="Cambria"/>
                <a:cs typeface="Cambria"/>
              </a:rPr>
              <a:t>Target</a:t>
            </a:r>
            <a:r>
              <a:rPr sz="1650" spc="190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60" dirty="0">
                <a:solidFill>
                  <a:srgbClr val="D4E3EE"/>
                </a:solidFill>
                <a:latin typeface="Cambria"/>
                <a:cs typeface="Cambria"/>
              </a:rPr>
              <a:t>High-</a:t>
            </a:r>
            <a:r>
              <a:rPr sz="1650" spc="75" dirty="0">
                <a:solidFill>
                  <a:srgbClr val="D4E3EE"/>
                </a:solidFill>
                <a:latin typeface="Cambria"/>
                <a:cs typeface="Cambria"/>
              </a:rPr>
              <a:t>Value</a:t>
            </a:r>
            <a:r>
              <a:rPr sz="1650" spc="160" dirty="0">
                <a:solidFill>
                  <a:srgbClr val="D4E3EE"/>
                </a:solidFill>
                <a:latin typeface="Cambria"/>
                <a:cs typeface="Cambria"/>
              </a:rPr>
              <a:t> </a:t>
            </a:r>
            <a:r>
              <a:rPr sz="1650" spc="60" dirty="0">
                <a:solidFill>
                  <a:srgbClr val="D4E3EE"/>
                </a:solidFill>
                <a:latin typeface="Cambria"/>
                <a:cs typeface="Cambria"/>
              </a:rPr>
              <a:t>Segments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000"/>
              </a:lnSpc>
              <a:spcBef>
                <a:spcPts val="570"/>
              </a:spcBef>
            </a:pP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Focus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marketing</a:t>
            </a:r>
            <a:r>
              <a:rPr sz="1400" spc="-6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on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high-</a:t>
            </a:r>
            <a:r>
              <a:rPr sz="1400" spc="-35" dirty="0">
                <a:solidFill>
                  <a:srgbClr val="D4E3EE"/>
                </a:solidFill>
                <a:latin typeface="Trebuchet MS"/>
                <a:cs typeface="Trebuchet MS"/>
              </a:rPr>
              <a:t>revenue</a:t>
            </a:r>
            <a:r>
              <a:rPr sz="1400" spc="-45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D4E3EE"/>
                </a:solidFill>
                <a:latin typeface="Trebuchet MS"/>
                <a:cs typeface="Trebuchet MS"/>
              </a:rPr>
              <a:t>age</a:t>
            </a:r>
            <a:r>
              <a:rPr sz="1400" spc="-8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4E3EE"/>
                </a:solidFill>
                <a:latin typeface="Trebuchet MS"/>
                <a:cs typeface="Trebuchet MS"/>
              </a:rPr>
              <a:t>groups</a:t>
            </a:r>
            <a:r>
              <a:rPr sz="1400" spc="-70" dirty="0">
                <a:solidFill>
                  <a:srgbClr val="D4E3EE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4E3EE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D4E3EE"/>
                </a:solidFill>
                <a:latin typeface="Trebuchet MS"/>
                <a:cs typeface="Trebuchet MS"/>
              </a:rPr>
              <a:t>demographics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215" y="3816483"/>
            <a:ext cx="273634" cy="23558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04215" y="4850510"/>
            <a:ext cx="274320" cy="236220"/>
          </a:xfrm>
          <a:custGeom>
            <a:avLst/>
            <a:gdLst/>
            <a:ahLst/>
            <a:cxnLst/>
            <a:rect l="l" t="t" r="r" b="b"/>
            <a:pathLst>
              <a:path w="274319" h="236220">
                <a:moveTo>
                  <a:pt x="159270" y="0"/>
                </a:moveTo>
                <a:lnTo>
                  <a:pt x="153047" y="0"/>
                </a:lnTo>
                <a:lnTo>
                  <a:pt x="145478" y="7493"/>
                </a:lnTo>
                <a:lnTo>
                  <a:pt x="145478" y="13716"/>
                </a:lnTo>
                <a:lnTo>
                  <a:pt x="239966" y="108204"/>
                </a:lnTo>
                <a:lnTo>
                  <a:pt x="4394" y="108204"/>
                </a:lnTo>
                <a:lnTo>
                  <a:pt x="0" y="112649"/>
                </a:lnTo>
                <a:lnTo>
                  <a:pt x="0" y="123444"/>
                </a:lnTo>
                <a:lnTo>
                  <a:pt x="4394" y="127762"/>
                </a:lnTo>
                <a:lnTo>
                  <a:pt x="239966" y="127762"/>
                </a:lnTo>
                <a:lnTo>
                  <a:pt x="145478" y="222250"/>
                </a:lnTo>
                <a:lnTo>
                  <a:pt x="145478" y="228473"/>
                </a:lnTo>
                <a:lnTo>
                  <a:pt x="153047" y="236093"/>
                </a:lnTo>
                <a:lnTo>
                  <a:pt x="159270" y="236093"/>
                </a:lnTo>
                <a:lnTo>
                  <a:pt x="274193" y="121158"/>
                </a:lnTo>
                <a:lnTo>
                  <a:pt x="274193" y="114935"/>
                </a:lnTo>
                <a:lnTo>
                  <a:pt x="159270" y="0"/>
                </a:lnTo>
                <a:close/>
              </a:path>
            </a:pathLst>
          </a:custGeom>
          <a:solidFill>
            <a:srgbClr val="D4E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95340" y="4851019"/>
            <a:ext cx="274320" cy="236220"/>
          </a:xfrm>
          <a:custGeom>
            <a:avLst/>
            <a:gdLst/>
            <a:ahLst/>
            <a:cxnLst/>
            <a:rect l="l" t="t" r="r" b="b"/>
            <a:pathLst>
              <a:path w="274320" h="236220">
                <a:moveTo>
                  <a:pt x="159258" y="0"/>
                </a:moveTo>
                <a:lnTo>
                  <a:pt x="153035" y="0"/>
                </a:lnTo>
                <a:lnTo>
                  <a:pt x="145542" y="7619"/>
                </a:lnTo>
                <a:lnTo>
                  <a:pt x="145542" y="13842"/>
                </a:lnTo>
                <a:lnTo>
                  <a:pt x="240030" y="108331"/>
                </a:lnTo>
                <a:lnTo>
                  <a:pt x="4445" y="108331"/>
                </a:lnTo>
                <a:lnTo>
                  <a:pt x="0" y="112648"/>
                </a:lnTo>
                <a:lnTo>
                  <a:pt x="0" y="123443"/>
                </a:lnTo>
                <a:lnTo>
                  <a:pt x="4445" y="127762"/>
                </a:lnTo>
                <a:lnTo>
                  <a:pt x="240030" y="127762"/>
                </a:lnTo>
                <a:lnTo>
                  <a:pt x="145542" y="222376"/>
                </a:lnTo>
                <a:lnTo>
                  <a:pt x="145542" y="228472"/>
                </a:lnTo>
                <a:lnTo>
                  <a:pt x="153035" y="236092"/>
                </a:lnTo>
                <a:lnTo>
                  <a:pt x="159258" y="236092"/>
                </a:lnTo>
                <a:lnTo>
                  <a:pt x="274193" y="121157"/>
                </a:lnTo>
                <a:lnTo>
                  <a:pt x="274193" y="114934"/>
                </a:lnTo>
                <a:lnTo>
                  <a:pt x="159258" y="0"/>
                </a:lnTo>
                <a:close/>
              </a:path>
            </a:pathLst>
          </a:custGeom>
          <a:solidFill>
            <a:srgbClr val="D4E3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308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Trebuchet MS</vt:lpstr>
      <vt:lpstr>Office Theme</vt:lpstr>
      <vt:lpstr>Customer Shopping Behavior Analysis</vt:lpstr>
      <vt:lpstr>Dataset Overview</vt:lpstr>
      <vt:lpstr>Data Processing &amp; Analysis Workflow</vt:lpstr>
      <vt:lpstr>Key Insights Uncovered</vt:lpstr>
      <vt:lpstr>PowerPoint Presentation</vt:lpstr>
      <vt:lpstr>Dashboard &amp; Business Recommendations Power BI Dashboard Highlights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Neeraj Tirumalasetty</cp:lastModifiedBy>
  <cp:revision>1</cp:revision>
  <dcterms:created xsi:type="dcterms:W3CDTF">2026-03-06T08:25:17Z</dcterms:created>
  <dcterms:modified xsi:type="dcterms:W3CDTF">2026-03-06T08:28:49Z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2026-03-06T00:00:00Z</vt:filetime>
  </property>
  <property fmtid="{D5CDD505-2E9C-101B-9397-08002B2CF9AE}" pid="5" name="Producer">
    <vt:lpwstr>www.ilovepdf.com</vt:lpwstr>
  </property>
</Properties>
</file>